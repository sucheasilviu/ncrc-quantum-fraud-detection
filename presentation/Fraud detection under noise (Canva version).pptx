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0:00 to 0:15. SAY: We built a quantum fraud detector whose ranking of payments does not change at all under the challenge’s gate noise. Its AUPRC is 0.735 at every noise level, above the original VQC (0.405 at p = 0.05) and above logistic regression (0.703). Logistic regression still has the slightly better F1 at a single threshold, and we say so later. Source: src/run.py results in results/raw, five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0:15 to 0:55. SAY: We compare three quantum circuits. First, the notebook circuit: 93 gates, 33 of them CNOTs, read from the first qubit. Third, ours: 16 gates, no CNOTs, four separate qubits with exactly four rotation gates each, and the inputs fed in again at every layer so the circuit stays expressive without entanglement. The middle one is ours with a CNOT chain put back: the cleanest test of whether entanglement is what lets noise scramble the ranking. Every model sees the same four inputs and the same 590 balanced training rows; five seeds; the full test set. Source: src/models.py, results/raw.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0:55 to 1:45. SAY: AUPRC tells us how well frauds rank above legitimate payments across all alert thresholds; higher is better. Under stronger noise the original VQC falls to 0.405 and its spread across seeds grows to 0.177. The entangled version slips to 0.712. Ours stays at 0.735 at both noise levels, exactly, with a spread of 0.017, and above logistic regression’s 0.703, which has no gates so noise cannot touch it. Source: results/raw, five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1:45 to 2:20. SAY: Recall is the share of frauds we catch; precision is the share of alerts that are really fraud, so precision 0.8 means eight real frauds in ten alerts. Moving the alert threshold draws the curve, and AUPRC summarises it. In this seed ours keeps exactly the same curve at both noise levels, average precision 0.727, while the original VQC’s curve sinks from 0.497 to 0.421. We plot one fixed seed; headline numbers average five. Source: src/demo_seed0.py, results/demo/seed0.npz.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2:20 to 2:55. SAY: Each star is a real test fraud. Green stars are above the alert threshold and caught; purple stars are below it and missed; grey dots are legitimate payments. In seed 0 our model catches 78 of 98 frauds at every noise level, because the threshold, chosen on validation data, moves with the uniform shrink. The honest comparison: linear catches 80 with 28 false alarms; ours 78 with 42 in this seed; averaged over five seeds ours flags 27. Source: results/demo/seed0.npz.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2:55 to 3:45. SAY: We tested each change separately. Removing the CNOTs is the core: the same circuit with CNOTs drops to 0.712 at strong noise and varies twice as much; without them it holds 0.735. Because the four qubits never interact, one circuit run can shift the same angle on all four and still read each qubit’s own gradient: 15 runs per training payment instead of 81, with mathematically identical results; we re-trained all five seeds to check. Cheap training, 15 epochs and checking progress on 20% of validation, costs 0.014 AUPRC. An optional ranking term in the loss lifts F1 to 0.796 on every seed, but AUPRC only on three of five, so we keep the plain version as the headline. Source: results/raw, 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3:45 to 4:20. SAY: The budget counts how many times a quantum device would have to run the circuit to train the model, with 1,024 measurements per run. The original VQC needs 2.43 million. Ours with standard gradients needs more, 3.14 million, because it has more angles to train. But its qubits never interact, so packed gradients bring it to 1.97 million on the same schedule, 19% less, with identical results. Train cheaper and it is 0.30 million, 88% less, still at AUPRC 0.721. No error mitigation, so no hidden extra runs. Source: ledger field in results/raw.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time: 4:20 to 5:00. SAY: The linear model learns one weight per input plus an offset. Our circuit turns each qubit by angles computed from the inputs, four times, and averages the four readings, which gives it curved decision boundaries. With noise off, linear scores 0.703, the original VQC 0.580 and ours 0.735, and ours keeps 0.735 under noise. Honestly: at a single alert threshold the linear model still has the higher F1, 0.791 against 0.763; the optional ranking loss closes that gap. And linear needs no quantum hardware at all, so we claim robustness and cost, not quantum advantage. Source: results/raw.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AUPRC measures fraud ranking across all alert thresholds; F1 measures the balance between catching fraud and avoiding false alerts at the chosen threshold. FINDING: at p = 0.05, AUPRC is 0.703 linear, 0.405 original, 0.712 entangled, 0.735 ours; F1 is 0.791, 0.537, 0.799, 0.763. WHY: ranking is exactly noise-proof for our circuit; the single threshold is chosen on validation and transfers slightly less well. LIMIT: five seeds describe variation, not significance.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the bars subtract the linear model’s AUPRC from each VQC on the same seed; above zero means the VQC is better. The right panel asks whether noise changes the order of payments compared with the circuit’s own clean scores. FINDING: at p = 0.05 ours is +0.032, the entangled version +0.009, the original −0.298; ρ is 1.000 for ours, 0.997 entangled, 0.686 original. WHY: without CNOTs every channel shrinks every score by the same factor (1 − 4p/3)^4.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we vary two of the four inputs and hold the other two at their training medians; green is flagged, purple is not. FINDING: linear is a straight boundary; the original VQC’s noisy scores span only ±0.02 and break into islands; ours spans ±0.40 with smooth curves. WHY: re-uploading the inputs at every layer gives curved boundaries without entanglement; noise shrinks ours uniformly instead of scrambling it. LIMIT: illustration only; curvier is not automatically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each matrix counts every payment in the 56,962-row test set for seed 0. FINDING: at p = 0.05, linear catches 80 with 28 false alarms; the original 58 with 45; entangled 74 with 17; ours 78 with 42, identical at p = 0.01. Over five seeds ours averages 77 caught and 27 false alarms. WHY: the threshold is chosen on validation at the same noise level; for ours the order never changes, so the decisions never change. LIMIT: one seed; false-alarm counts vary by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the dashed line is the alert threshold; zero is the boundary for every model because each axis subtracts that model’s own threshold. FINDING: at p = 0.05 linear catches 80, the original 58, entangled 74, ours 78. The original’s points crowd close to the line under noise, which is why shot noise later overwhelms it. LIMIT: a display sample of legitimate payments; one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every configuration we trained, five seeds each, test AUPRC without noise and at p = 0.05. FINDING: 1 qubit 2 layers 0.718, 4 layers 0.699, 6 layers 0.700; 4 qubits 2 layers 0.728, 4 layers 0.735; entangled 0.744 clean but 0.712 at p = 0.05; cheap training 0.721; ranking loss 0.747. WHY: depth made training less stable; entanglement trades noise robustness for a little clean accuracy. LIMIT: the headline was picked on validation before looking at these test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left, AUPRC for the full 30-epoch schedule and the cheap one (15 epochs, progress checked on 20% of validation); middle, the runs each needs; right, runs per training example for each gradient method. FINDING: 0.735 vs 0.721 AUPRC; 1.97 M vs 0.30 M runs; 81 runs with standard gradients, 15 packed. WHY: neighbouring Z rotations merge into one angle, and the same angle is shifted on all four independent qubits in one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exact simulation is the infinite-shot limit; a device estimates each score from measurements. FINDING: at p = 0.05 ours 0.735 exact, 0.733 with 1,024 shots; the original 0.405 exact, 0.013 with shots; the entangled version 0.712 exact, 0.708 with shots (sampled as whole 4-qubit bitstrings). WHY: noise squeezes the original’s scores into a band narrower than the shot wobble; ours shrinks only by (1 − 4p/3)^4 = 0.76 and averages four independent qubits. This replaces the ZNE slide: we use no error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noise locations count where a noise channel is inserted; executions per example is the gradient cost; the right panel is the full training plus validation budget per seed. FINDING: 126 → 34 → 16 noise locations; 41, 97 and 15 runs per example; 2.43 M, 3.43 M and 1.97 M runs per seed. WHY: validation passes cost 1.71 M for every model on the full schedule, so cheaper checking is the next big saving (0.30 M with cheap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instead of four noise levels joined by straight lines, each curve is measured point by point. FINDING: official protocol, ours 0.735 at all 21 levels; original 0.580 → 0.405. Stress test: original near random by p = 0.08, entangled breaks around 0.25 (0.677 at p = 0.2, 0.270 at 0.3), ours 0.940 at p = 0.3, 0.873 at 0.4, 0.385 at 0.5; linear 0.959 throughout. HOW: our qubits are sampled separately, the entangled model’s as whole 4-qubit bitstrings because its qubits are correlated. LIMIT: the stress set is 20% fraud, so its AUPRC is not comparable with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each bar is the single worst run, not the average. Uneven noise gives every gate its own random strength, and in the mix its own noise type too. FINDING: ours 0.93 to 0.95 everywhere; original 0.11 under depolarizing and uneven noise, below random 0.20, meaning its ranking flips; entangled 0.69 in the uneven mix. WHY: only uniform depolarizing noise is covered exactly by the guarantee; elsewhere few gates per qubit keep it close. We re-checked these with an independent NumPy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REHEARSAL AND QUESTIONS. READ: horizontal axis, the score without noise; vertical axis, the score of the same payment at p = 0.05. FINDING: the original VQC’s points scatter (rank agreement 0.882) and its scores squeeze into 0.48 to 0.51; ours lie on one straight line (1.000). WHY: every payment’s score is shrunk by the same factor, so the order, which is all AUPRC uses, cannot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8834"/>
            <a:ext cx="10566401" cy="405659"/>
          </a:xfrm>
          <a:prstGeom prst="rect">
            <a:avLst/>
          </a:prstGeom>
          <a:noFill/>
          <a:ln/>
        </p:spPr>
        <p:txBody>
          <a:bodyPr wrap="square" lIns="0" tIns="0" rIns="0" bIns="0" rtlCol="0" anchor="t"/>
          <a:lstStyle>
            <a:lvl1pPr algn="l" indent="0" marL="0">
              <a:lnSpc>
                <a:spcPct val="115000"/>
              </a:lnSpc>
              <a:buNone/>
              <a:defRPr lang="en-US" sz="2929" dirty="0">
                <a:solidFill>
                  <a:srgbClr val="24212F"/>
                </a:solidFill>
                <a:latin typeface="Arial" pitchFamily="34" charset="0"/>
                <a:ea typeface="Arial" pitchFamily="34" charset="-122"/>
                <a:cs typeface="Arial" pitchFamily="34" charset="-120"/>
              </a:defRPr>
            </a:lvl1pPr>
          </a:lstStyle>
          <a:p>
            <a:pPr algn="l" indent="0" marL="0">
              <a:lnSpc>
                <a:spcPct val="115000"/>
              </a:lnSpc>
              <a:buNone/>
            </a:pPr>
            <a:endParaRPr lang="en-US" sz="2929" dirty="0"/>
          </a:p>
        </p:txBody>
      </p:sp>
      <p:sp>
        <p:nvSpPr>
          <p:cNvPr id="3" name="Text Placeholder 2"/>
          <p:cNvSpPr/>
          <p:nvPr>
            <p:ph idx="101" type="body"/>
          </p:nvPr>
        </p:nvSpPr>
        <p:spPr>
          <a:xfrm>
            <a:off x="812800" y="1879293"/>
            <a:ext cx="10566400" cy="4165907"/>
          </a:xfrm>
          <a:prstGeom prst="rect">
            <a:avLst/>
          </a:prstGeom>
          <a:noFill/>
          <a:ln/>
        </p:spPr>
        <p:txBody>
          <a:bodyPr wrap="square" lIns="0" tIns="0" rIns="0" bIns="0" rtlCol="0" anchor="t"/>
          <a:lstStyle>
            <a:lvl1pPr algn="l" indent="0" marL="0">
              <a:lnSpc>
                <a:spcPct val="140000"/>
              </a:lnSpc>
              <a:buNone/>
              <a:defRPr lang="en-US" sz="1600" dirty="0">
                <a:solidFill>
                  <a:srgbClr val="24212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8834"/>
            <a:ext cx="10566401" cy="405659"/>
          </a:xfrm>
          <a:prstGeom prst="rect">
            <a:avLst/>
          </a:prstGeom>
          <a:noFill/>
          <a:ln/>
        </p:spPr>
        <p:txBody>
          <a:bodyPr wrap="square" lIns="0" tIns="0" rIns="0" bIns="0" rtlCol="0" anchor="t"/>
          <a:lstStyle>
            <a:lvl1pPr algn="l" indent="0" marL="0">
              <a:lnSpc>
                <a:spcPct val="115000"/>
              </a:lnSpc>
              <a:buNone/>
              <a:defRPr lang="en-US" sz="2929" dirty="0">
                <a:solidFill>
                  <a:srgbClr val="24212F"/>
                </a:solidFill>
                <a:latin typeface="Arial" pitchFamily="34" charset="0"/>
                <a:ea typeface="Arial" pitchFamily="34" charset="-122"/>
                <a:cs typeface="Arial" pitchFamily="34" charset="-120"/>
              </a:defRPr>
            </a:lvl1pPr>
          </a:lstStyle>
          <a:p>
            <a:pPr algn="l" indent="0" marL="0">
              <a:lnSpc>
                <a:spcPct val="115000"/>
              </a:lnSpc>
              <a:buNone/>
            </a:pPr>
            <a:endParaRPr lang="en-US" sz="2929" dirty="0"/>
          </a:p>
        </p:txBody>
      </p:sp>
      <p:sp>
        <p:nvSpPr>
          <p:cNvPr id="3" name="Text Placeholder 2"/>
          <p:cNvSpPr/>
          <p:nvPr>
            <p:ph idx="101" type="body"/>
          </p:nvPr>
        </p:nvSpPr>
        <p:spPr>
          <a:xfrm>
            <a:off x="812800" y="1879293"/>
            <a:ext cx="10566400" cy="4165907"/>
          </a:xfrm>
          <a:prstGeom prst="rect">
            <a:avLst/>
          </a:prstGeom>
          <a:noFill/>
          <a:ln/>
        </p:spPr>
        <p:txBody>
          <a:bodyPr wrap="square" lIns="0" tIns="0" rIns="0" bIns="0" rtlCol="0" anchor="t"/>
          <a:lstStyle>
            <a:lvl1pPr algn="l" indent="0" marL="0">
              <a:lnSpc>
                <a:spcPct val="140000"/>
              </a:lnSpc>
              <a:buNone/>
              <a:defRPr lang="en-US" sz="1600" dirty="0">
                <a:solidFill>
                  <a:srgbClr val="24212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12F"/>
        </a:solidFill>
      </p:bgPr>
    </p:bg>
    <p:spTree>
      <p:nvGrpSpPr>
        <p:cNvPr id="1" name=""/>
        <p:cNvGrpSpPr/>
        <p:nvPr/>
      </p:nvGrpSpPr>
      <p:grpSpPr>
        <a:xfrm>
          <a:off x="0" y="0"/>
          <a:ext cx="0" cy="0"/>
          <a:chOff x="0" y="0"/>
          <a:chExt cx="0" cy="0"/>
        </a:xfrm>
      </p:grpSpPr>
      <p:sp>
        <p:nvSpPr>
          <p:cNvPr id="2" name="Text 0"/>
          <p:cNvSpPr/>
          <p:nvPr/>
        </p:nvSpPr>
        <p:spPr>
          <a:xfrm>
            <a:off x="812800" y="812800"/>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E99E9"/>
                </a:solidFill>
                <a:latin typeface="Arial" pitchFamily="34" charset="0"/>
                <a:ea typeface="Arial" pitchFamily="34" charset="-122"/>
                <a:cs typeface="Arial" pitchFamily="34" charset="-120"/>
              </a:rPr>
              <a:t>01</a:t>
            </a:r>
            <a:endParaRPr lang="en-US" sz="1500" dirty="0"/>
          </a:p>
        </p:txBody>
      </p:sp>
      <p:sp>
        <p:nvSpPr>
          <p:cNvPr id="3" name="Text 1"/>
          <p:cNvSpPr/>
          <p:nvPr>
            <p:ph type="title"/>
          </p:nvPr>
        </p:nvSpPr>
        <p:spPr>
          <a:xfrm>
            <a:off x="812800" y="1934528"/>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Arial" pitchFamily="34" charset="0"/>
                <a:ea typeface="Arial" pitchFamily="34" charset="-122"/>
                <a:cs typeface="Arial" pitchFamily="34" charset="-120"/>
              </a:rPr>
              <a:t>Fraud detection under noise</a:t>
            </a:r>
            <a:endParaRPr lang="en-US" sz="3200" dirty="0"/>
          </a:p>
        </p:txBody>
      </p:sp>
      <p:sp>
        <p:nvSpPr>
          <p:cNvPr id="4" name="Text 2"/>
          <p:cNvSpPr/>
          <p:nvPr/>
        </p:nvSpPr>
        <p:spPr>
          <a:xfrm>
            <a:off x="812800" y="2610168"/>
            <a:ext cx="10883393" cy="785495"/>
          </a:xfrm>
          <a:prstGeom prst="rect">
            <a:avLst/>
          </a:prstGeom>
          <a:noFill/>
          <a:ln/>
        </p:spPr>
        <p:txBody>
          <a:bodyPr wrap="square" lIns="0" tIns="0" rIns="0" bIns="0" rtlCol="0" anchor="t">
            <a:normAutofit/>
          </a:bodyPr>
          <a:lstStyle/>
          <a:p>
            <a:pPr algn="l" indent="0" marL="0">
              <a:lnSpc>
                <a:spcPts val="5985"/>
              </a:lnSpc>
              <a:buNone/>
            </a:pPr>
            <a:r>
              <a:rPr lang="en-US" sz="5700" b="1" dirty="0">
                <a:solidFill>
                  <a:srgbClr val="AE99E9"/>
                </a:solidFill>
                <a:latin typeface="Arial" pitchFamily="34" charset="0"/>
                <a:ea typeface="Arial" pitchFamily="34" charset="-122"/>
                <a:cs typeface="Arial" pitchFamily="34" charset="-120"/>
              </a:rPr>
              <a:t>Our VQC ignores the noise.</a:t>
            </a:r>
            <a:endParaRPr lang="en-US" sz="5700" dirty="0"/>
          </a:p>
        </p:txBody>
      </p:sp>
      <p:sp>
        <p:nvSpPr>
          <p:cNvPr id="5" name="Text 3"/>
          <p:cNvSpPr/>
          <p:nvPr/>
        </p:nvSpPr>
        <p:spPr>
          <a:xfrm>
            <a:off x="812800" y="3598863"/>
            <a:ext cx="10883393" cy="1385570"/>
          </a:xfrm>
          <a:prstGeom prst="rect">
            <a:avLst/>
          </a:prstGeom>
          <a:noFill/>
          <a:ln/>
        </p:spPr>
        <p:txBody>
          <a:bodyPr wrap="square" lIns="0" tIns="0" rIns="0" bIns="0" rtlCol="0" anchor="t">
            <a:normAutofit/>
          </a:bodyPr>
          <a:lstStyle/>
          <a:p>
            <a:pPr algn="l" indent="0" marL="0">
              <a:lnSpc>
                <a:spcPts val="5355"/>
              </a:lnSpc>
              <a:buNone/>
            </a:pPr>
            <a:r>
              <a:rPr lang="en-US" sz="5100" b="1" dirty="0">
                <a:solidFill>
                  <a:srgbClr val="D3EE8D"/>
                </a:solidFill>
                <a:latin typeface="Arial" pitchFamily="34" charset="0"/>
                <a:ea typeface="Arial" pitchFamily="34" charset="-122"/>
                <a:cs typeface="Arial" pitchFamily="34" charset="-120"/>
              </a:rPr>
              <a:t>It ranks fraud above logistic regression.</a:t>
            </a:r>
            <a:endParaRPr lang="en-US" sz="5100" dirty="0"/>
          </a:p>
        </p:txBody>
      </p:sp>
      <p:sp>
        <p:nvSpPr>
          <p:cNvPr id="6" name="Text 4"/>
          <p:cNvSpPr/>
          <p:nvPr/>
        </p:nvSpPr>
        <p:spPr>
          <a:xfrm>
            <a:off x="812800" y="5814060"/>
            <a:ext cx="1088339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3C7"/>
                </a:solidFill>
                <a:latin typeface="Arial" pitchFamily="34" charset="0"/>
                <a:ea typeface="Arial" pitchFamily="34" charset="-122"/>
                <a:cs typeface="Arial" pitchFamily="34" charset="-120"/>
              </a:rPr>
              <a:t>Noise-Covariant Re-uploading Classifier · 5 seeds · 56,962 test payments, 98 frauds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1"/>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555DE"/>
                </a:solidFill>
                <a:latin typeface="Arial" pitchFamily="34" charset="0"/>
                <a:ea typeface="Arial" pitchFamily="34" charset="-122"/>
                <a:cs typeface="Arial" pitchFamily="34" charset="-120"/>
              </a:rPr>
              <a:t>02</a:t>
            </a:r>
            <a:endParaRPr lang="en-US" sz="1500" dirty="0"/>
          </a:p>
        </p:txBody>
      </p:sp>
      <p:sp>
        <p:nvSpPr>
          <p:cNvPr id="3" name="Text 1"/>
          <p:cNvSpPr/>
          <p:nvPr>
            <p:ph type="title"/>
          </p:nvPr>
        </p:nvSpPr>
        <p:spPr>
          <a:xfrm>
            <a:off x="812800" y="1206501"/>
            <a:ext cx="10883393" cy="486410"/>
          </a:xfrm>
          <a:prstGeom prst="rect">
            <a:avLst/>
          </a:prstGeom>
          <a:noFill/>
          <a:ln/>
        </p:spPr>
        <p:txBody>
          <a:bodyPr wrap="square" lIns="0" tIns="0" rIns="0" bIns="0" rtlCol="0" anchor="t">
            <a:normAutofit/>
          </a:bodyPr>
          <a:lstStyle/>
          <a:p>
            <a:pPr algn="l" indent="0" marL="0">
              <a:lnSpc>
                <a:spcPts val="3630"/>
              </a:lnSpc>
              <a:buNone/>
            </a:pPr>
            <a:r>
              <a:rPr lang="en-US" sz="3300" b="1" i="0" dirty="0">
                <a:solidFill>
                  <a:srgbClr val="24212F"/>
                </a:solidFill>
                <a:latin typeface="Arial" pitchFamily="34" charset="0"/>
                <a:ea typeface="Arial" pitchFamily="34" charset="-122"/>
                <a:cs typeface="Arial" pitchFamily="34" charset="-120"/>
              </a:rPr>
              <a:t>How we changed the circuit</a:t>
            </a:r>
            <a:endParaRPr lang="en-US" sz="3300" dirty="0"/>
          </a:p>
        </p:txBody>
      </p:sp>
      <p:sp>
        <p:nvSpPr>
          <p:cNvPr id="4" name="Shape 2"/>
          <p:cNvSpPr/>
          <p:nvPr/>
        </p:nvSpPr>
        <p:spPr>
          <a:xfrm>
            <a:off x="812800" y="1896111"/>
            <a:ext cx="3386667" cy="3200400"/>
          </a:xfrm>
          <a:prstGeom prst="roundRect">
            <a:avLst>
              <a:gd name="adj" fmla="val 3968"/>
            </a:avLst>
          </a:prstGeom>
          <a:solidFill>
            <a:srgbClr val="FFFFFF"/>
          </a:solidFill>
          <a:ln/>
        </p:spPr>
      </p:sp>
      <p:sp>
        <p:nvSpPr>
          <p:cNvPr id="5" name="Text 3"/>
          <p:cNvSpPr/>
          <p:nvPr/>
        </p:nvSpPr>
        <p:spPr>
          <a:xfrm>
            <a:off x="1066800" y="2150111"/>
            <a:ext cx="29650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212F"/>
                </a:solidFill>
                <a:latin typeface="Arial" pitchFamily="34" charset="0"/>
                <a:ea typeface="Arial" pitchFamily="34" charset="-122"/>
                <a:cs typeface="Arial" pitchFamily="34" charset="-120"/>
              </a:rPr>
              <a:t>Original VQC</a:t>
            </a:r>
            <a:endParaRPr lang="en-US" sz="1700" dirty="0"/>
          </a:p>
        </p:txBody>
      </p:sp>
      <p:sp>
        <p:nvSpPr>
          <p:cNvPr id="6" name="Text 4"/>
          <p:cNvSpPr/>
          <p:nvPr/>
        </p:nvSpPr>
        <p:spPr>
          <a:xfrm>
            <a:off x="1066800" y="2498090"/>
            <a:ext cx="296502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8C869A"/>
                </a:solidFill>
                <a:latin typeface="Arial" pitchFamily="34" charset="0"/>
                <a:ea typeface="Arial" pitchFamily="34" charset="-122"/>
                <a:cs typeface="Arial" pitchFamily="34" charset="-120"/>
              </a:rPr>
              <a:t>93</a:t>
            </a:r>
            <a:endParaRPr lang="en-US" sz="6000" dirty="0"/>
          </a:p>
        </p:txBody>
      </p:sp>
      <p:sp>
        <p:nvSpPr>
          <p:cNvPr id="7" name="Text 5"/>
          <p:cNvSpPr/>
          <p:nvPr/>
        </p:nvSpPr>
        <p:spPr>
          <a:xfrm>
            <a:off x="1066800" y="3348990"/>
            <a:ext cx="29650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C869A"/>
                </a:solidFill>
                <a:latin typeface="Arial" pitchFamily="34" charset="0"/>
                <a:ea typeface="Arial" pitchFamily="34" charset="-122"/>
                <a:cs typeface="Arial" pitchFamily="34" charset="-120"/>
              </a:rPr>
              <a:t>gates</a:t>
            </a:r>
            <a:endParaRPr lang="en-US" sz="1500" dirty="0"/>
          </a:p>
        </p:txBody>
      </p:sp>
      <p:sp>
        <p:nvSpPr>
          <p:cNvPr id="8" name="Text 6"/>
          <p:cNvSpPr/>
          <p:nvPr/>
        </p:nvSpPr>
        <p:spPr>
          <a:xfrm>
            <a:off x="1066800" y="3704591"/>
            <a:ext cx="296502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Reuse the notebook circuit.</a:t>
            </a:r>
            <a:endParaRPr lang="en-US" sz="1400" dirty="0"/>
          </a:p>
        </p:txBody>
      </p:sp>
      <p:sp>
        <p:nvSpPr>
          <p:cNvPr id="9" name="Text 7"/>
          <p:cNvSpPr/>
          <p:nvPr/>
        </p:nvSpPr>
        <p:spPr>
          <a:xfrm>
            <a:off x="1066800" y="4033520"/>
            <a:ext cx="296502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33 CNOTs tie the qubits together.</a:t>
            </a:r>
            <a:endParaRPr lang="en-US" sz="1400" dirty="0"/>
          </a:p>
        </p:txBody>
      </p:sp>
      <p:sp>
        <p:nvSpPr>
          <p:cNvPr id="10" name="Text 8"/>
          <p:cNvSpPr/>
          <p:nvPr/>
        </p:nvSpPr>
        <p:spPr>
          <a:xfrm>
            <a:off x="1066800" y="4362451"/>
            <a:ext cx="296502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Read the first qubit for the fraud score.</a:t>
            </a:r>
            <a:endParaRPr lang="en-US" sz="1400" dirty="0"/>
          </a:p>
        </p:txBody>
      </p:sp>
      <p:sp>
        <p:nvSpPr>
          <p:cNvPr id="11" name="Shape 9"/>
          <p:cNvSpPr/>
          <p:nvPr/>
        </p:nvSpPr>
        <p:spPr>
          <a:xfrm>
            <a:off x="4402667" y="1896111"/>
            <a:ext cx="3386667" cy="3200400"/>
          </a:xfrm>
          <a:prstGeom prst="roundRect">
            <a:avLst>
              <a:gd name="adj" fmla="val 3968"/>
            </a:avLst>
          </a:prstGeom>
          <a:solidFill>
            <a:srgbClr val="FFFFFF"/>
          </a:solidFill>
          <a:ln/>
        </p:spPr>
      </p:sp>
      <p:sp>
        <p:nvSpPr>
          <p:cNvPr id="12" name="Text 10"/>
          <p:cNvSpPr/>
          <p:nvPr/>
        </p:nvSpPr>
        <p:spPr>
          <a:xfrm>
            <a:off x="4656667" y="2150111"/>
            <a:ext cx="29650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212F"/>
                </a:solidFill>
                <a:latin typeface="Arial" pitchFamily="34" charset="0"/>
                <a:ea typeface="Arial" pitchFamily="34" charset="-122"/>
                <a:cs typeface="Arial" pitchFamily="34" charset="-120"/>
              </a:rPr>
              <a:t>Entangled NCRC</a:t>
            </a:r>
            <a:endParaRPr lang="en-US" sz="1700" dirty="0"/>
          </a:p>
        </p:txBody>
      </p:sp>
      <p:sp>
        <p:nvSpPr>
          <p:cNvPr id="13" name="Text 11"/>
          <p:cNvSpPr/>
          <p:nvPr/>
        </p:nvSpPr>
        <p:spPr>
          <a:xfrm>
            <a:off x="4656667" y="2498090"/>
            <a:ext cx="296502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AE99E9"/>
                </a:solidFill>
                <a:latin typeface="Arial" pitchFamily="34" charset="0"/>
                <a:ea typeface="Arial" pitchFamily="34" charset="-122"/>
                <a:cs typeface="Arial" pitchFamily="34" charset="-120"/>
              </a:rPr>
              <a:t>25</a:t>
            </a:r>
            <a:endParaRPr lang="en-US" sz="6000" dirty="0"/>
          </a:p>
        </p:txBody>
      </p:sp>
      <p:sp>
        <p:nvSpPr>
          <p:cNvPr id="14" name="Text 12"/>
          <p:cNvSpPr/>
          <p:nvPr/>
        </p:nvSpPr>
        <p:spPr>
          <a:xfrm>
            <a:off x="4656667" y="3348990"/>
            <a:ext cx="29650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AE99E9"/>
                </a:solidFill>
                <a:latin typeface="Arial" pitchFamily="34" charset="0"/>
                <a:ea typeface="Arial" pitchFamily="34" charset="-122"/>
                <a:cs typeface="Arial" pitchFamily="34" charset="-120"/>
              </a:rPr>
              <a:t>gates</a:t>
            </a:r>
            <a:endParaRPr lang="en-US" sz="1500" dirty="0"/>
          </a:p>
        </p:txBody>
      </p:sp>
      <p:sp>
        <p:nvSpPr>
          <p:cNvPr id="15" name="Text 13"/>
          <p:cNvSpPr/>
          <p:nvPr/>
        </p:nvSpPr>
        <p:spPr>
          <a:xfrm>
            <a:off x="4656667" y="3704591"/>
            <a:ext cx="296502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Feed the 4 inputs in at every layer.</a:t>
            </a:r>
            <a:endParaRPr lang="en-US" sz="1400" dirty="0"/>
          </a:p>
        </p:txBody>
      </p:sp>
      <p:sp>
        <p:nvSpPr>
          <p:cNvPr id="16" name="Text 14"/>
          <p:cNvSpPr/>
          <p:nvPr/>
        </p:nvSpPr>
        <p:spPr>
          <a:xfrm>
            <a:off x="4656667" y="4033520"/>
            <a:ext cx="296502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16 rotations plus 9 CNOTs.</a:t>
            </a:r>
            <a:endParaRPr lang="en-US" sz="1400" dirty="0"/>
          </a:p>
        </p:txBody>
      </p:sp>
      <p:sp>
        <p:nvSpPr>
          <p:cNvPr id="17" name="Text 15"/>
          <p:cNvSpPr/>
          <p:nvPr/>
        </p:nvSpPr>
        <p:spPr>
          <a:xfrm>
            <a:off x="4656667" y="4362451"/>
            <a:ext cx="296502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Our circuit with entanglement put back.</a:t>
            </a:r>
            <a:endParaRPr lang="en-US" sz="1400" dirty="0"/>
          </a:p>
        </p:txBody>
      </p:sp>
      <p:sp>
        <p:nvSpPr>
          <p:cNvPr id="18" name="Shape 16"/>
          <p:cNvSpPr/>
          <p:nvPr/>
        </p:nvSpPr>
        <p:spPr>
          <a:xfrm>
            <a:off x="7992534" y="1896111"/>
            <a:ext cx="3386667" cy="3200400"/>
          </a:xfrm>
          <a:prstGeom prst="roundRect">
            <a:avLst>
              <a:gd name="adj" fmla="val 3968"/>
            </a:avLst>
          </a:prstGeom>
          <a:solidFill>
            <a:srgbClr val="FFFFFF"/>
          </a:solidFill>
          <a:ln/>
        </p:spPr>
      </p:sp>
      <p:sp>
        <p:nvSpPr>
          <p:cNvPr id="19" name="Text 17"/>
          <p:cNvSpPr/>
          <p:nvPr/>
        </p:nvSpPr>
        <p:spPr>
          <a:xfrm>
            <a:off x="8246534" y="2150111"/>
            <a:ext cx="29650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212F"/>
                </a:solidFill>
                <a:latin typeface="Arial" pitchFamily="34" charset="0"/>
                <a:ea typeface="Arial" pitchFamily="34" charset="-122"/>
                <a:cs typeface="Arial" pitchFamily="34" charset="-120"/>
              </a:rPr>
              <a:t>NCRC (ours)</a:t>
            </a:r>
            <a:endParaRPr lang="en-US" sz="1700" dirty="0"/>
          </a:p>
        </p:txBody>
      </p:sp>
      <p:sp>
        <p:nvSpPr>
          <p:cNvPr id="20" name="Text 18"/>
          <p:cNvSpPr/>
          <p:nvPr/>
        </p:nvSpPr>
        <p:spPr>
          <a:xfrm>
            <a:off x="8246534" y="2498090"/>
            <a:ext cx="296502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7555DE"/>
                </a:solidFill>
                <a:latin typeface="Arial" pitchFamily="34" charset="0"/>
                <a:ea typeface="Arial" pitchFamily="34" charset="-122"/>
                <a:cs typeface="Arial" pitchFamily="34" charset="-120"/>
              </a:rPr>
              <a:t>16</a:t>
            </a:r>
            <a:endParaRPr lang="en-US" sz="6000" dirty="0"/>
          </a:p>
        </p:txBody>
      </p:sp>
      <p:sp>
        <p:nvSpPr>
          <p:cNvPr id="21" name="Text 19"/>
          <p:cNvSpPr/>
          <p:nvPr/>
        </p:nvSpPr>
        <p:spPr>
          <a:xfrm>
            <a:off x="8246534" y="3348990"/>
            <a:ext cx="29650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555DE"/>
                </a:solidFill>
                <a:latin typeface="Arial" pitchFamily="34" charset="0"/>
                <a:ea typeface="Arial" pitchFamily="34" charset="-122"/>
                <a:cs typeface="Arial" pitchFamily="34" charset="-120"/>
              </a:rPr>
              <a:t>gates</a:t>
            </a:r>
            <a:endParaRPr lang="en-US" sz="1500" dirty="0"/>
          </a:p>
        </p:txBody>
      </p:sp>
      <p:sp>
        <p:nvSpPr>
          <p:cNvPr id="22" name="Text 20"/>
          <p:cNvSpPr/>
          <p:nvPr/>
        </p:nvSpPr>
        <p:spPr>
          <a:xfrm>
            <a:off x="8246534" y="3704591"/>
            <a:ext cx="2965027"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Remove every CNOT: 4 independent qubits.</a:t>
            </a:r>
            <a:endParaRPr lang="en-US" sz="1400" dirty="0"/>
          </a:p>
        </p:txBody>
      </p:sp>
      <p:sp>
        <p:nvSpPr>
          <p:cNvPr id="23" name="Text 21"/>
          <p:cNvSpPr/>
          <p:nvPr/>
        </p:nvSpPr>
        <p:spPr>
          <a:xfrm>
            <a:off x="8246534" y="4273551"/>
            <a:ext cx="296502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Exactly 4 rotations on each qubit.</a:t>
            </a:r>
            <a:endParaRPr lang="en-US" sz="1400" dirty="0"/>
          </a:p>
        </p:txBody>
      </p:sp>
      <p:sp>
        <p:nvSpPr>
          <p:cNvPr id="24" name="Text 22"/>
          <p:cNvSpPr/>
          <p:nvPr/>
        </p:nvSpPr>
        <p:spPr>
          <a:xfrm>
            <a:off x="8246534" y="4602480"/>
            <a:ext cx="2965027"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Score = average of the 4 qubits.</a:t>
            </a:r>
            <a:endParaRPr lang="en-US" sz="1400" dirty="0"/>
          </a:p>
        </p:txBody>
      </p:sp>
      <p:sp>
        <p:nvSpPr>
          <p:cNvPr id="25" name="Text 23"/>
          <p:cNvSpPr/>
          <p:nvPr/>
        </p:nvSpPr>
        <p:spPr>
          <a:xfrm>
            <a:off x="812800" y="5325111"/>
            <a:ext cx="10883393"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4212F"/>
                </a:solidFill>
                <a:latin typeface="Arial" pitchFamily="34" charset="0"/>
                <a:ea typeface="Arial" pitchFamily="34" charset="-122"/>
                <a:cs typeface="Arial" pitchFamily="34" charset="-120"/>
              </a:rPr>
              <a:t>A gate is one circuit operation, and noise strikes after every one. With no CNOTs, noise only shrinks every score by the same factor, so the order of payments cannot change.</a:t>
            </a:r>
            <a:endParaRPr lang="en-US" sz="1400" dirty="0"/>
          </a:p>
        </p:txBody>
      </p:sp>
      <p:sp>
        <p:nvSpPr>
          <p:cNvPr id="26" name="Text 24"/>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Same 4 inputs and training data · 5 seeds · 56,962 test payments, including 98 frauds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72627"/>
          </a:xfrm>
          <a:prstGeom prst="rect">
            <a:avLst/>
          </a:prstGeom>
          <a:noFill/>
          <a:ln/>
        </p:spPr>
        <p:txBody>
          <a:bodyPr wrap="square" lIns="0" tIns="0" rIns="0" bIns="0" rtlCol="0" anchor="t">
            <a:normAutofit/>
          </a:bodyPr>
          <a:lstStyle/>
          <a:p>
            <a:pPr algn="l" indent="0" marL="0">
              <a:lnSpc>
                <a:spcPts val="1969"/>
              </a:lnSpc>
              <a:buNone/>
            </a:pPr>
            <a:r>
              <a:rPr lang="en-US" sz="1406" b="1" dirty="0">
                <a:solidFill>
                  <a:srgbClr val="7555DE"/>
                </a:solidFill>
                <a:latin typeface="Arial" pitchFamily="34" charset="0"/>
                <a:ea typeface="Arial" pitchFamily="34" charset="-122"/>
                <a:cs typeface="Arial" pitchFamily="34" charset="-120"/>
              </a:rPr>
              <a:t>03</a:t>
            </a:r>
            <a:endParaRPr lang="en-US" sz="1406" dirty="0"/>
          </a:p>
        </p:txBody>
      </p:sp>
      <p:sp>
        <p:nvSpPr>
          <p:cNvPr id="3" name="Text 1"/>
          <p:cNvSpPr/>
          <p:nvPr>
            <p:ph type="title"/>
          </p:nvPr>
        </p:nvSpPr>
        <p:spPr>
          <a:xfrm>
            <a:off x="812800" y="1187027"/>
            <a:ext cx="10883393" cy="452755"/>
          </a:xfrm>
          <a:prstGeom prst="rect">
            <a:avLst/>
          </a:prstGeom>
          <a:noFill/>
          <a:ln/>
        </p:spPr>
        <p:txBody>
          <a:bodyPr wrap="square" lIns="0" tIns="0" rIns="0" bIns="0" rtlCol="0" anchor="t">
            <a:normAutofit/>
          </a:bodyPr>
          <a:lstStyle/>
          <a:p>
            <a:pPr algn="l" indent="0" marL="0">
              <a:lnSpc>
                <a:spcPts val="3369"/>
              </a:lnSpc>
              <a:buNone/>
            </a:pPr>
            <a:r>
              <a:rPr lang="en-US" sz="3063" b="1" i="0" dirty="0">
                <a:solidFill>
                  <a:srgbClr val="24212F"/>
                </a:solidFill>
                <a:latin typeface="Arial" pitchFamily="34" charset="0"/>
                <a:ea typeface="Arial" pitchFamily="34" charset="-122"/>
                <a:cs typeface="Arial" pitchFamily="34" charset="-120"/>
              </a:rPr>
              <a:t>Fraud ranking did not move under noise</a:t>
            </a:r>
            <a:endParaRPr lang="en-US" sz="3063" dirty="0"/>
          </a:p>
        </p:txBody>
      </p:sp>
      <p:pic>
        <p:nvPicPr>
          <p:cNvPr id="4" name="Image 0" descr="Bar charts of test AUPRC at gate noise p = 0.01 and p = 0.05, mean and spread over five seeds. p = 0.01: Linear 0.703, Original VQC 0.564, Entangled NCRC 0.744, NCRC 0.735. p = 0.05: Linear 0.703, Original VQC 0.405, Entangled NCRC 0.712, NCRC 0.735.">    </p:cNvPr>
          <p:cNvPicPr>
            <a:picLocks noChangeAspect="1"/>
          </p:cNvPicPr>
          <p:nvPr/>
        </p:nvPicPr>
        <p:blipFill>
          <a:blip r:embed="rId1"/>
          <a:srcRect l="-6234" r="-6234" t="0" b="0"/>
          <a:stretch/>
        </p:blipFill>
        <p:spPr>
          <a:xfrm>
            <a:off x="812800" y="1842982"/>
            <a:ext cx="10566401" cy="3531976"/>
          </a:xfrm>
          <a:prstGeom prst="rect">
            <a:avLst/>
          </a:prstGeom>
        </p:spPr>
      </p:pic>
      <p:sp>
        <p:nvSpPr>
          <p:cNvPr id="5" name="Text 2"/>
          <p:cNvSpPr/>
          <p:nvPr/>
        </p:nvSpPr>
        <p:spPr>
          <a:xfrm>
            <a:off x="812800" y="5603559"/>
            <a:ext cx="10883393" cy="263843"/>
          </a:xfrm>
          <a:prstGeom prst="rect">
            <a:avLst/>
          </a:prstGeom>
          <a:noFill/>
          <a:ln/>
        </p:spPr>
        <p:txBody>
          <a:bodyPr wrap="square" lIns="0" tIns="0" rIns="0" bIns="0" rtlCol="0" anchor="t">
            <a:normAutofit/>
          </a:bodyPr>
          <a:lstStyle/>
          <a:p>
            <a:pPr algn="l" indent="0" marL="0">
              <a:lnSpc>
                <a:spcPts val="1924"/>
              </a:lnSpc>
              <a:buNone/>
            </a:pPr>
            <a:r>
              <a:rPr lang="en-US" sz="1425" dirty="0">
                <a:solidFill>
                  <a:srgbClr val="24212F"/>
                </a:solidFill>
                <a:latin typeface="Arial" pitchFamily="34" charset="0"/>
                <a:ea typeface="Arial" pitchFamily="34" charset="-122"/>
                <a:cs typeface="Arial" pitchFamily="34" charset="-120"/>
              </a:rPr>
              <a:t>At p = 0.05: ours 0.735 ± 0.017, the original VQC 0.405 ± 0.177. Ours is identical at every noise level.</a:t>
            </a:r>
            <a:endParaRPr lang="en-US" sz="1425" dirty="0"/>
          </a:p>
        </p:txBody>
      </p:sp>
      <p:sp>
        <p:nvSpPr>
          <p:cNvPr id="6" name="Text 3"/>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AUPRC: higher is better · mean ± standard deviation across 5 training seeds · full test set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60033"/>
          </a:xfrm>
          <a:prstGeom prst="rect">
            <a:avLst/>
          </a:prstGeom>
          <a:noFill/>
          <a:ln/>
        </p:spPr>
        <p:txBody>
          <a:bodyPr wrap="square" lIns="0" tIns="0" rIns="0" bIns="0" rtlCol="0" anchor="t">
            <a:normAutofit/>
          </a:bodyPr>
          <a:lstStyle/>
          <a:p>
            <a:pPr algn="l" indent="0" marL="0">
              <a:lnSpc>
                <a:spcPts val="1870"/>
              </a:lnSpc>
              <a:buNone/>
            </a:pPr>
            <a:r>
              <a:rPr lang="en-US" sz="1336" b="1" dirty="0">
                <a:solidFill>
                  <a:srgbClr val="7555DE"/>
                </a:solidFill>
                <a:latin typeface="Arial" pitchFamily="34" charset="0"/>
                <a:ea typeface="Arial" pitchFamily="34" charset="-122"/>
                <a:cs typeface="Arial" pitchFamily="34" charset="-120"/>
              </a:rPr>
              <a:t>04</a:t>
            </a:r>
            <a:endParaRPr lang="en-US" sz="1336" dirty="0"/>
          </a:p>
        </p:txBody>
      </p:sp>
      <p:sp>
        <p:nvSpPr>
          <p:cNvPr id="3" name="Text 1"/>
          <p:cNvSpPr/>
          <p:nvPr>
            <p:ph type="title"/>
          </p:nvPr>
        </p:nvSpPr>
        <p:spPr>
          <a:xfrm>
            <a:off x="812800" y="1174432"/>
            <a:ext cx="10883393" cy="431059"/>
          </a:xfrm>
          <a:prstGeom prst="rect">
            <a:avLst/>
          </a:prstGeom>
          <a:noFill/>
          <a:ln/>
        </p:spPr>
        <p:txBody>
          <a:bodyPr wrap="square" lIns="0" tIns="0" rIns="0" bIns="0" rtlCol="0" anchor="t">
            <a:normAutofit/>
          </a:bodyPr>
          <a:lstStyle/>
          <a:p>
            <a:pPr algn="l" indent="0" marL="0">
              <a:lnSpc>
                <a:spcPts val="3222"/>
              </a:lnSpc>
              <a:buNone/>
            </a:pPr>
            <a:r>
              <a:rPr lang="en-US" sz="2929" b="1" i="0" dirty="0">
                <a:solidFill>
                  <a:srgbClr val="24212F"/>
                </a:solidFill>
                <a:latin typeface="Arial" pitchFamily="34" charset="0"/>
                <a:ea typeface="Arial" pitchFamily="34" charset="-122"/>
                <a:cs typeface="Arial" pitchFamily="34" charset="-120"/>
              </a:rPr>
              <a:t>Precision and recall</a:t>
            </a:r>
            <a:endParaRPr lang="en-US" sz="2929" dirty="0"/>
          </a:p>
        </p:txBody>
      </p:sp>
      <p:pic>
        <p:nvPicPr>
          <p:cNvPr id="4" name="Image 0" descr="Precision against recall on the full test set for seed 0 at p = 0.01 and p = 0.05. Average precision: Linear 0.699 at both; Original VQC 0.497 then 0.421; Entangled NCRC 0.725 then 0.722; NCRC 0.727 at both.">    </p:cNvPr>
          <p:cNvPicPr>
            <a:picLocks noChangeAspect="1"/>
          </p:cNvPicPr>
          <p:nvPr/>
        </p:nvPicPr>
        <p:blipFill>
          <a:blip r:embed="rId1"/>
          <a:srcRect l="-8093" r="-8093" t="0" b="0"/>
          <a:stretch/>
        </p:blipFill>
        <p:spPr>
          <a:xfrm>
            <a:off x="812800" y="1808691"/>
            <a:ext cx="10566401" cy="3352165"/>
          </a:xfrm>
          <a:prstGeom prst="rect">
            <a:avLst/>
          </a:prstGeom>
        </p:spPr>
      </p:pic>
      <p:sp>
        <p:nvSpPr>
          <p:cNvPr id="5" name="Text 2"/>
          <p:cNvSpPr/>
          <p:nvPr/>
        </p:nvSpPr>
        <p:spPr>
          <a:xfrm>
            <a:off x="812800" y="5389457"/>
            <a:ext cx="10883393" cy="477943"/>
          </a:xfrm>
          <a:prstGeom prst="rect">
            <a:avLst/>
          </a:prstGeom>
          <a:noFill/>
          <a:ln/>
        </p:spPr>
        <p:txBody>
          <a:bodyPr wrap="square" lIns="0" tIns="0" rIns="0" bIns="0" rtlCol="0" anchor="t">
            <a:normAutofit/>
          </a:bodyPr>
          <a:lstStyle/>
          <a:p>
            <a:pPr algn="l" indent="0" marL="0">
              <a:lnSpc>
                <a:spcPts val="1785"/>
              </a:lnSpc>
              <a:buNone/>
            </a:pPr>
            <a:r>
              <a:rPr lang="en-US" sz="1322" dirty="0">
                <a:solidFill>
                  <a:srgbClr val="24212F"/>
                </a:solidFill>
                <a:latin typeface="Arial" pitchFamily="34" charset="0"/>
                <a:ea typeface="Arial" pitchFamily="34" charset="-122"/>
                <a:cs typeface="Arial" pitchFamily="34" charset="-120"/>
              </a:rPr>
              <a:t>Recall = share of frauds caught. Precision = share of alerts that are real fraud. At the same recall, higher precision means fewer false alarms; AUPRC summarises the curve.</a:t>
            </a:r>
            <a:endParaRPr lang="en-US" sz="1322" dirty="0"/>
          </a:p>
        </p:txBody>
      </p:sp>
      <p:sp>
        <p:nvSpPr>
          <p:cNvPr id="6" name="Text 3"/>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Seed 0 · full test set · moving the alert threshold draws the curve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60033"/>
          </a:xfrm>
          <a:prstGeom prst="rect">
            <a:avLst/>
          </a:prstGeom>
          <a:noFill/>
          <a:ln/>
        </p:spPr>
        <p:txBody>
          <a:bodyPr wrap="square" lIns="0" tIns="0" rIns="0" bIns="0" rtlCol="0" anchor="t">
            <a:normAutofit/>
          </a:bodyPr>
          <a:lstStyle/>
          <a:p>
            <a:pPr algn="l" indent="0" marL="0">
              <a:lnSpc>
                <a:spcPts val="1870"/>
              </a:lnSpc>
              <a:buNone/>
            </a:pPr>
            <a:r>
              <a:rPr lang="en-US" sz="1336" b="1" dirty="0">
                <a:solidFill>
                  <a:srgbClr val="7555DE"/>
                </a:solidFill>
                <a:latin typeface="Arial" pitchFamily="34" charset="0"/>
                <a:ea typeface="Arial" pitchFamily="34" charset="-122"/>
                <a:cs typeface="Arial" pitchFamily="34" charset="-120"/>
              </a:rPr>
              <a:t>05</a:t>
            </a:r>
            <a:endParaRPr lang="en-US" sz="1336" dirty="0"/>
          </a:p>
        </p:txBody>
      </p:sp>
      <p:sp>
        <p:nvSpPr>
          <p:cNvPr id="3" name="Text 1"/>
          <p:cNvSpPr/>
          <p:nvPr>
            <p:ph type="title"/>
          </p:nvPr>
        </p:nvSpPr>
        <p:spPr>
          <a:xfrm>
            <a:off x="812800" y="1174434"/>
            <a:ext cx="10883393" cy="431059"/>
          </a:xfrm>
          <a:prstGeom prst="rect">
            <a:avLst/>
          </a:prstGeom>
          <a:noFill/>
          <a:ln/>
        </p:spPr>
        <p:txBody>
          <a:bodyPr wrap="square" lIns="0" tIns="0" rIns="0" bIns="0" rtlCol="0" anchor="t">
            <a:normAutofit/>
          </a:bodyPr>
          <a:lstStyle/>
          <a:p>
            <a:pPr algn="l" indent="0" marL="0">
              <a:lnSpc>
                <a:spcPts val="3222"/>
              </a:lnSpc>
              <a:buNone/>
            </a:pPr>
            <a:r>
              <a:rPr lang="en-US" sz="2929" b="1" i="0" dirty="0">
                <a:solidFill>
                  <a:srgbClr val="24212F"/>
                </a:solidFill>
                <a:latin typeface="Arial" pitchFamily="34" charset="0"/>
                <a:ea typeface="Arial" pitchFamily="34" charset="-122"/>
                <a:cs typeface="Arial" pitchFamily="34" charset="-120"/>
              </a:rPr>
              <a:t>78 frauds caught, at any noise level</a:t>
            </a:r>
            <a:endParaRPr lang="en-US" sz="2929" dirty="0"/>
          </a:p>
        </p:txBody>
      </p:sp>
      <p:pic>
        <p:nvPicPr>
          <p:cNvPr id="4" name="Image 0" descr="Every one of the 98 test frauds and 500 legitimate payments, plotted as fraud score minus the alert threshold for NCRC at p = 0.05, seed 0. 78 frauds sit above the threshold and are caught, 20 below are missed; legitimate payments sit well below.">    </p:cNvPr>
          <p:cNvPicPr>
            <a:picLocks noChangeAspect="1"/>
          </p:cNvPicPr>
          <p:nvPr/>
        </p:nvPicPr>
        <p:blipFill>
          <a:blip r:embed="rId1"/>
          <a:srcRect l="-27919" r="-27919" t="0" b="0"/>
          <a:stretch/>
        </p:blipFill>
        <p:spPr>
          <a:xfrm>
            <a:off x="812800" y="1808693"/>
            <a:ext cx="10566401" cy="3352165"/>
          </a:xfrm>
          <a:prstGeom prst="rect">
            <a:avLst/>
          </a:prstGeom>
        </p:spPr>
      </p:pic>
      <p:sp>
        <p:nvSpPr>
          <p:cNvPr id="5" name="Text 2"/>
          <p:cNvSpPr/>
          <p:nvPr/>
        </p:nvSpPr>
        <p:spPr>
          <a:xfrm>
            <a:off x="812800" y="5389457"/>
            <a:ext cx="10883393" cy="477943"/>
          </a:xfrm>
          <a:prstGeom prst="rect">
            <a:avLst/>
          </a:prstGeom>
          <a:noFill/>
          <a:ln/>
        </p:spPr>
        <p:txBody>
          <a:bodyPr wrap="square" lIns="0" tIns="0" rIns="0" bIns="0" rtlCol="0" anchor="t">
            <a:normAutofit/>
          </a:bodyPr>
          <a:lstStyle/>
          <a:p>
            <a:pPr algn="l" indent="0" marL="0">
              <a:lnSpc>
                <a:spcPts val="1785"/>
              </a:lnSpc>
              <a:buNone/>
            </a:pPr>
            <a:r>
              <a:rPr lang="en-US" sz="1322" dirty="0">
                <a:solidFill>
                  <a:srgbClr val="24212F"/>
                </a:solidFill>
                <a:latin typeface="Arial" pitchFamily="34" charset="0"/>
                <a:ea typeface="Arial" pitchFamily="34" charset="-122"/>
                <a:cs typeface="Arial" pitchFamily="34" charset="-120"/>
              </a:rPr>
              <a:t>Green stars are above the alert threshold and caught; purple stars are missed. Seed 0: 78 of 98 caught, 20 missed, the same at p = 0 and p = 0.05. Linear catches 80.</a:t>
            </a:r>
            <a:endParaRPr lang="en-US" sz="1322" dirty="0"/>
          </a:p>
        </p:txBody>
      </p:sp>
      <p:sp>
        <p:nvSpPr>
          <p:cNvPr id="6" name="Text 3"/>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All 98 frauds + 500 legitimate payments shown for readability · metrics use all 56,962 · threshold chosen on validation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555DE"/>
                </a:solidFill>
                <a:latin typeface="Arial" pitchFamily="34" charset="0"/>
                <a:ea typeface="Arial" pitchFamily="34" charset="-122"/>
                <a:cs typeface="Arial" pitchFamily="34" charset="-120"/>
              </a:rPr>
              <a:t>06</a:t>
            </a:r>
            <a:endParaRPr lang="en-US" sz="1500" dirty="0"/>
          </a:p>
        </p:txBody>
      </p:sp>
      <p:sp>
        <p:nvSpPr>
          <p:cNvPr id="3" name="Text 1"/>
          <p:cNvSpPr/>
          <p:nvPr>
            <p:ph type="title"/>
          </p:nvPr>
        </p:nvSpPr>
        <p:spPr>
          <a:xfrm>
            <a:off x="812800" y="1206500"/>
            <a:ext cx="10883393" cy="486410"/>
          </a:xfrm>
          <a:prstGeom prst="rect">
            <a:avLst/>
          </a:prstGeom>
          <a:noFill/>
          <a:ln/>
        </p:spPr>
        <p:txBody>
          <a:bodyPr wrap="square" lIns="0" tIns="0" rIns="0" bIns="0" rtlCol="0" anchor="t">
            <a:normAutofit/>
          </a:bodyPr>
          <a:lstStyle/>
          <a:p>
            <a:pPr algn="l" indent="0" marL="0">
              <a:lnSpc>
                <a:spcPts val="3630"/>
              </a:lnSpc>
              <a:buNone/>
            </a:pPr>
            <a:r>
              <a:rPr lang="en-US" sz="3300" b="1" i="0" dirty="0">
                <a:solidFill>
                  <a:srgbClr val="24212F"/>
                </a:solidFill>
                <a:latin typeface="Arial" pitchFamily="34" charset="0"/>
                <a:ea typeface="Arial" pitchFamily="34" charset="-122"/>
                <a:cs typeface="Arial" pitchFamily="34" charset="-120"/>
              </a:rPr>
              <a:t>What actually helped</a:t>
            </a:r>
            <a:endParaRPr lang="en-US" sz="3300" dirty="0"/>
          </a:p>
        </p:txBody>
      </p:sp>
      <p:sp>
        <p:nvSpPr>
          <p:cNvPr id="4" name="Shape 2"/>
          <p:cNvSpPr/>
          <p:nvPr/>
        </p:nvSpPr>
        <p:spPr>
          <a:xfrm>
            <a:off x="812800" y="1896108"/>
            <a:ext cx="5194300" cy="1691640"/>
          </a:xfrm>
          <a:prstGeom prst="roundRect">
            <a:avLst>
              <a:gd name="adj" fmla="val 7508"/>
            </a:avLst>
          </a:prstGeom>
          <a:solidFill>
            <a:srgbClr val="FFFFFF"/>
          </a:solidFill>
          <a:ln/>
        </p:spPr>
      </p:sp>
      <p:sp>
        <p:nvSpPr>
          <p:cNvPr id="5" name="Text 3"/>
          <p:cNvSpPr/>
          <p:nvPr/>
        </p:nvSpPr>
        <p:spPr>
          <a:xfrm>
            <a:off x="1028700" y="2112008"/>
            <a:ext cx="49053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212F"/>
                </a:solidFill>
                <a:latin typeface="Arial" pitchFamily="34" charset="0"/>
                <a:ea typeface="Arial" pitchFamily="34" charset="-122"/>
                <a:cs typeface="Arial" pitchFamily="34" charset="-120"/>
              </a:rPr>
              <a:t>Remove every CNOT</a:t>
            </a:r>
            <a:endParaRPr lang="en-US" sz="1600" dirty="0"/>
          </a:p>
        </p:txBody>
      </p:sp>
      <p:sp>
        <p:nvSpPr>
          <p:cNvPr id="6" name="Text 4"/>
          <p:cNvSpPr/>
          <p:nvPr/>
        </p:nvSpPr>
        <p:spPr>
          <a:xfrm>
            <a:off x="1028700" y="2419350"/>
            <a:ext cx="490537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06A7C"/>
                </a:solidFill>
                <a:latin typeface="Arial" pitchFamily="34" charset="0"/>
                <a:ea typeface="Arial" pitchFamily="34" charset="-122"/>
                <a:cs typeface="Arial" pitchFamily="34" charset="-120"/>
              </a:rPr>
              <a:t>Noise stops reordering payments: AUPRC at p = 0.05; the spread more than halves.</a:t>
            </a:r>
            <a:endParaRPr lang="en-US" sz="1300" dirty="0"/>
          </a:p>
        </p:txBody>
      </p:sp>
      <p:sp>
        <p:nvSpPr>
          <p:cNvPr id="7" name="Text 5"/>
          <p:cNvSpPr/>
          <p:nvPr/>
        </p:nvSpPr>
        <p:spPr>
          <a:xfrm>
            <a:off x="1028700" y="2945129"/>
            <a:ext cx="4905375"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555DE"/>
                </a:solidFill>
                <a:latin typeface="Arial" pitchFamily="34" charset="0"/>
                <a:ea typeface="Arial" pitchFamily="34" charset="-122"/>
                <a:cs typeface="Arial" pitchFamily="34" charset="-120"/>
              </a:rPr>
              <a:t>0.712 → 0.735</a:t>
            </a:r>
            <a:endParaRPr lang="en-US" sz="2400" dirty="0"/>
          </a:p>
        </p:txBody>
      </p:sp>
      <p:sp>
        <p:nvSpPr>
          <p:cNvPr id="8" name="Shape 6"/>
          <p:cNvSpPr/>
          <p:nvPr/>
        </p:nvSpPr>
        <p:spPr>
          <a:xfrm>
            <a:off x="6184900" y="1896108"/>
            <a:ext cx="5194300" cy="1691640"/>
          </a:xfrm>
          <a:prstGeom prst="roundRect">
            <a:avLst>
              <a:gd name="adj" fmla="val 7508"/>
            </a:avLst>
          </a:prstGeom>
          <a:solidFill>
            <a:srgbClr val="FFFFFF"/>
          </a:solidFill>
          <a:ln/>
        </p:spPr>
      </p:sp>
      <p:sp>
        <p:nvSpPr>
          <p:cNvPr id="9" name="Text 7"/>
          <p:cNvSpPr/>
          <p:nvPr/>
        </p:nvSpPr>
        <p:spPr>
          <a:xfrm>
            <a:off x="6400800" y="2112008"/>
            <a:ext cx="49053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212F"/>
                </a:solidFill>
                <a:latin typeface="Arial" pitchFamily="34" charset="0"/>
                <a:ea typeface="Arial" pitchFamily="34" charset="-122"/>
                <a:cs typeface="Arial" pitchFamily="34" charset="-120"/>
              </a:rPr>
              <a:t>Packed gradients</a:t>
            </a:r>
            <a:endParaRPr lang="en-US" sz="1600" dirty="0"/>
          </a:p>
        </p:txBody>
      </p:sp>
      <p:sp>
        <p:nvSpPr>
          <p:cNvPr id="10" name="Text 8"/>
          <p:cNvSpPr/>
          <p:nvPr/>
        </p:nvSpPr>
        <p:spPr>
          <a:xfrm>
            <a:off x="6400800" y="2419350"/>
            <a:ext cx="490537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06A7C"/>
                </a:solidFill>
                <a:latin typeface="Arial" pitchFamily="34" charset="0"/>
                <a:ea typeface="Arial" pitchFamily="34" charset="-122"/>
                <a:cs typeface="Arial" pitchFamily="34" charset="-120"/>
              </a:rPr>
              <a:t>Shift one angle on all 4 independent qubits at once. Identical results on every seed.</a:t>
            </a:r>
            <a:endParaRPr lang="en-US" sz="1300" dirty="0"/>
          </a:p>
        </p:txBody>
      </p:sp>
      <p:sp>
        <p:nvSpPr>
          <p:cNvPr id="11" name="Text 9"/>
          <p:cNvSpPr/>
          <p:nvPr/>
        </p:nvSpPr>
        <p:spPr>
          <a:xfrm>
            <a:off x="6400800" y="2945129"/>
            <a:ext cx="4905375"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555DE"/>
                </a:solidFill>
                <a:latin typeface="Arial" pitchFamily="34" charset="0"/>
                <a:ea typeface="Arial" pitchFamily="34" charset="-122"/>
                <a:cs typeface="Arial" pitchFamily="34" charset="-120"/>
              </a:rPr>
              <a:t>81 → 15 runs</a:t>
            </a:r>
            <a:endParaRPr lang="en-US" sz="2400" dirty="0"/>
          </a:p>
        </p:txBody>
      </p:sp>
      <p:sp>
        <p:nvSpPr>
          <p:cNvPr id="12" name="Shape 10"/>
          <p:cNvSpPr/>
          <p:nvPr/>
        </p:nvSpPr>
        <p:spPr>
          <a:xfrm>
            <a:off x="812800" y="3765550"/>
            <a:ext cx="5194300" cy="1691640"/>
          </a:xfrm>
          <a:prstGeom prst="roundRect">
            <a:avLst>
              <a:gd name="adj" fmla="val 7508"/>
            </a:avLst>
          </a:prstGeom>
          <a:solidFill>
            <a:srgbClr val="FFFFFF"/>
          </a:solidFill>
          <a:ln/>
        </p:spPr>
      </p:sp>
      <p:sp>
        <p:nvSpPr>
          <p:cNvPr id="13" name="Text 11"/>
          <p:cNvSpPr/>
          <p:nvPr/>
        </p:nvSpPr>
        <p:spPr>
          <a:xfrm>
            <a:off x="1028700" y="3981450"/>
            <a:ext cx="49053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212F"/>
                </a:solidFill>
                <a:latin typeface="Arial" pitchFamily="34" charset="0"/>
                <a:ea typeface="Arial" pitchFamily="34" charset="-122"/>
                <a:cs typeface="Arial" pitchFamily="34" charset="-120"/>
              </a:rPr>
              <a:t>Cheaper training</a:t>
            </a:r>
            <a:endParaRPr lang="en-US" sz="1600" dirty="0"/>
          </a:p>
        </p:txBody>
      </p:sp>
      <p:sp>
        <p:nvSpPr>
          <p:cNvPr id="14" name="Text 12"/>
          <p:cNvSpPr/>
          <p:nvPr/>
        </p:nvSpPr>
        <p:spPr>
          <a:xfrm>
            <a:off x="1028700" y="4288789"/>
            <a:ext cx="490537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06A7C"/>
                </a:solidFill>
                <a:latin typeface="Arial" pitchFamily="34" charset="0"/>
                <a:ea typeface="Arial" pitchFamily="34" charset="-122"/>
                <a:cs typeface="Arial" pitchFamily="34" charset="-120"/>
              </a:rPr>
              <a:t>15 epochs, check progress on 20% of validation. Small AUPRC cost.</a:t>
            </a:r>
            <a:endParaRPr lang="en-US" sz="1300" dirty="0"/>
          </a:p>
        </p:txBody>
      </p:sp>
      <p:sp>
        <p:nvSpPr>
          <p:cNvPr id="15" name="Text 13"/>
          <p:cNvSpPr/>
          <p:nvPr/>
        </p:nvSpPr>
        <p:spPr>
          <a:xfrm>
            <a:off x="1028700" y="4814568"/>
            <a:ext cx="4905375"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555DE"/>
                </a:solidFill>
                <a:latin typeface="Arial" pitchFamily="34" charset="0"/>
                <a:ea typeface="Arial" pitchFamily="34" charset="-122"/>
                <a:cs typeface="Arial" pitchFamily="34" charset="-120"/>
              </a:rPr>
              <a:t>0.735 → 0.721</a:t>
            </a:r>
            <a:endParaRPr lang="en-US" sz="2400" dirty="0"/>
          </a:p>
        </p:txBody>
      </p:sp>
      <p:sp>
        <p:nvSpPr>
          <p:cNvPr id="16" name="Shape 14"/>
          <p:cNvSpPr/>
          <p:nvPr/>
        </p:nvSpPr>
        <p:spPr>
          <a:xfrm>
            <a:off x="6184900" y="3765550"/>
            <a:ext cx="5194300" cy="1691640"/>
          </a:xfrm>
          <a:prstGeom prst="roundRect">
            <a:avLst>
              <a:gd name="adj" fmla="val 7508"/>
            </a:avLst>
          </a:prstGeom>
          <a:solidFill>
            <a:srgbClr val="FFFFFF"/>
          </a:solidFill>
          <a:ln/>
        </p:spPr>
      </p:sp>
      <p:sp>
        <p:nvSpPr>
          <p:cNvPr id="17" name="Text 15"/>
          <p:cNvSpPr/>
          <p:nvPr/>
        </p:nvSpPr>
        <p:spPr>
          <a:xfrm>
            <a:off x="6400800" y="3981450"/>
            <a:ext cx="49053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4212F"/>
                </a:solidFill>
                <a:latin typeface="Arial" pitchFamily="34" charset="0"/>
                <a:ea typeface="Arial" pitchFamily="34" charset="-122"/>
                <a:cs typeface="Arial" pitchFamily="34" charset="-120"/>
              </a:rPr>
              <a:t>Optional ranking loss</a:t>
            </a:r>
            <a:endParaRPr lang="en-US" sz="1600" dirty="0"/>
          </a:p>
        </p:txBody>
      </p:sp>
      <p:sp>
        <p:nvSpPr>
          <p:cNvPr id="18" name="Text 16"/>
          <p:cNvSpPr/>
          <p:nvPr/>
        </p:nvSpPr>
        <p:spPr>
          <a:xfrm>
            <a:off x="6400800" y="4288789"/>
            <a:ext cx="490537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06A7C"/>
                </a:solidFill>
                <a:latin typeface="Arial" pitchFamily="34" charset="0"/>
                <a:ea typeface="Arial" pitchFamily="34" charset="-122"/>
                <a:cs typeface="Arial" pitchFamily="34" charset="-120"/>
              </a:rPr>
              <a:t>Reward frauds scored above legitimate payments. AUPRC up on 3 of 5 seeds.</a:t>
            </a:r>
            <a:endParaRPr lang="en-US" sz="1300" dirty="0"/>
          </a:p>
        </p:txBody>
      </p:sp>
      <p:sp>
        <p:nvSpPr>
          <p:cNvPr id="19" name="Text 17"/>
          <p:cNvSpPr/>
          <p:nvPr/>
        </p:nvSpPr>
        <p:spPr>
          <a:xfrm>
            <a:off x="6400800" y="4814568"/>
            <a:ext cx="4905375"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7555DE"/>
                </a:solidFill>
                <a:latin typeface="Arial" pitchFamily="34" charset="0"/>
                <a:ea typeface="Arial" pitchFamily="34" charset="-122"/>
                <a:cs typeface="Arial" pitchFamily="34" charset="-120"/>
              </a:rPr>
              <a:t>F1 0.763 → 0.796</a:t>
            </a:r>
            <a:endParaRPr lang="en-US" sz="2400" dirty="0"/>
          </a:p>
        </p:txBody>
      </p:sp>
      <p:sp>
        <p:nvSpPr>
          <p:cNvPr id="20" name="Text 18"/>
          <p:cNvSpPr/>
          <p:nvPr/>
        </p:nvSpPr>
        <p:spPr>
          <a:xfrm>
            <a:off x="812800" y="6238239"/>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All on the full test set, 5 seeds · runs = circuit runs per training payment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555DE"/>
                </a:solidFill>
                <a:latin typeface="Arial" pitchFamily="34" charset="0"/>
                <a:ea typeface="Arial" pitchFamily="34" charset="-122"/>
                <a:cs typeface="Arial" pitchFamily="34" charset="-120"/>
              </a:rPr>
              <a:t>07</a:t>
            </a:r>
            <a:endParaRPr lang="en-US" sz="1500" dirty="0"/>
          </a:p>
        </p:txBody>
      </p:sp>
      <p:sp>
        <p:nvSpPr>
          <p:cNvPr id="3" name="Text 1"/>
          <p:cNvSpPr/>
          <p:nvPr>
            <p:ph type="title"/>
          </p:nvPr>
        </p:nvSpPr>
        <p:spPr>
          <a:xfrm>
            <a:off x="812800" y="1206500"/>
            <a:ext cx="10883393" cy="486410"/>
          </a:xfrm>
          <a:prstGeom prst="rect">
            <a:avLst/>
          </a:prstGeom>
          <a:noFill/>
          <a:ln/>
        </p:spPr>
        <p:txBody>
          <a:bodyPr wrap="square" lIns="0" tIns="0" rIns="0" bIns="0" rtlCol="0" anchor="t">
            <a:normAutofit/>
          </a:bodyPr>
          <a:lstStyle/>
          <a:p>
            <a:pPr algn="l" indent="0" marL="0">
              <a:lnSpc>
                <a:spcPts val="3630"/>
              </a:lnSpc>
              <a:buNone/>
            </a:pPr>
            <a:r>
              <a:rPr lang="en-US" sz="3300" b="1" i="0" dirty="0">
                <a:solidFill>
                  <a:srgbClr val="24212F"/>
                </a:solidFill>
                <a:latin typeface="Arial" pitchFamily="34" charset="0"/>
                <a:ea typeface="Arial" pitchFamily="34" charset="-122"/>
                <a:cs typeface="Arial" pitchFamily="34" charset="-120"/>
              </a:rPr>
              <a:t>Quantum budget: robust and cheaper</a:t>
            </a:r>
            <a:endParaRPr lang="en-US" sz="3300" dirty="0"/>
          </a:p>
        </p:txBody>
      </p:sp>
      <p:sp>
        <p:nvSpPr>
          <p:cNvPr id="4" name="Text 2"/>
          <p:cNvSpPr/>
          <p:nvPr/>
        </p:nvSpPr>
        <p:spPr>
          <a:xfrm>
            <a:off x="736600" y="1949450"/>
            <a:ext cx="26162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24212F"/>
                </a:solidFill>
                <a:latin typeface="Arial" pitchFamily="34" charset="0"/>
                <a:ea typeface="Arial" pitchFamily="34" charset="-122"/>
                <a:cs typeface="Arial" pitchFamily="34" charset="-120"/>
              </a:rPr>
              <a:t>Linear</a:t>
            </a:r>
            <a:endParaRPr lang="en-US" sz="1400" dirty="0"/>
          </a:p>
        </p:txBody>
      </p:sp>
      <p:sp>
        <p:nvSpPr>
          <p:cNvPr id="5" name="Shape 3"/>
          <p:cNvSpPr/>
          <p:nvPr/>
        </p:nvSpPr>
        <p:spPr>
          <a:xfrm>
            <a:off x="3505200" y="1896111"/>
            <a:ext cx="25400" cy="355600"/>
          </a:xfrm>
          <a:prstGeom prst="roundRect">
            <a:avLst>
              <a:gd name="adj" fmla="val 50000"/>
            </a:avLst>
          </a:prstGeom>
          <a:solidFill>
            <a:srgbClr val="24212F"/>
          </a:solidFill>
          <a:ln/>
        </p:spPr>
      </p:sp>
      <p:sp>
        <p:nvSpPr>
          <p:cNvPr id="6" name="Text 4"/>
          <p:cNvSpPr/>
          <p:nvPr/>
        </p:nvSpPr>
        <p:spPr>
          <a:xfrm>
            <a:off x="3683000" y="1949450"/>
            <a:ext cx="22051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212F"/>
                </a:solidFill>
                <a:latin typeface="Arial" pitchFamily="34" charset="0"/>
                <a:ea typeface="Arial" pitchFamily="34" charset="-122"/>
                <a:cs typeface="Arial" pitchFamily="34" charset="-120"/>
              </a:rPr>
              <a:t>0 — no quantum calls</a:t>
            </a:r>
            <a:endParaRPr lang="en-US" sz="1400" dirty="0"/>
          </a:p>
        </p:txBody>
      </p:sp>
      <p:sp>
        <p:nvSpPr>
          <p:cNvPr id="7" name="Text 5"/>
          <p:cNvSpPr/>
          <p:nvPr/>
        </p:nvSpPr>
        <p:spPr>
          <a:xfrm>
            <a:off x="736600" y="2444750"/>
            <a:ext cx="26162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24212F"/>
                </a:solidFill>
                <a:latin typeface="Arial" pitchFamily="34" charset="0"/>
                <a:ea typeface="Arial" pitchFamily="34" charset="-122"/>
                <a:cs typeface="Arial" pitchFamily="34" charset="-120"/>
              </a:rPr>
              <a:t>Original VQC</a:t>
            </a:r>
            <a:endParaRPr lang="en-US" sz="1400" dirty="0"/>
          </a:p>
        </p:txBody>
      </p:sp>
      <p:sp>
        <p:nvSpPr>
          <p:cNvPr id="8" name="Shape 6"/>
          <p:cNvSpPr/>
          <p:nvPr/>
        </p:nvSpPr>
        <p:spPr>
          <a:xfrm>
            <a:off x="3505200" y="2391411"/>
            <a:ext cx="2063750" cy="355600"/>
          </a:xfrm>
          <a:prstGeom prst="roundRect">
            <a:avLst>
              <a:gd name="adj" fmla="val 10714"/>
            </a:avLst>
          </a:prstGeom>
          <a:solidFill>
            <a:srgbClr val="A7A2B3"/>
          </a:solidFill>
          <a:ln/>
        </p:spPr>
      </p:sp>
      <p:sp>
        <p:nvSpPr>
          <p:cNvPr id="9" name="Text 7"/>
          <p:cNvSpPr/>
          <p:nvPr/>
        </p:nvSpPr>
        <p:spPr>
          <a:xfrm>
            <a:off x="5721350" y="2444750"/>
            <a:ext cx="65227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212F"/>
                </a:solidFill>
                <a:latin typeface="Arial" pitchFamily="34" charset="0"/>
                <a:ea typeface="Arial" pitchFamily="34" charset="-122"/>
                <a:cs typeface="Arial" pitchFamily="34" charset="-120"/>
              </a:rPr>
              <a:t>2.43 M</a:t>
            </a:r>
            <a:endParaRPr lang="en-US" sz="1400" dirty="0"/>
          </a:p>
        </p:txBody>
      </p:sp>
      <p:sp>
        <p:nvSpPr>
          <p:cNvPr id="10" name="Text 8"/>
          <p:cNvSpPr/>
          <p:nvPr/>
        </p:nvSpPr>
        <p:spPr>
          <a:xfrm>
            <a:off x="736600" y="2940050"/>
            <a:ext cx="26162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24212F"/>
                </a:solidFill>
                <a:latin typeface="Arial" pitchFamily="34" charset="0"/>
                <a:ea typeface="Arial" pitchFamily="34" charset="-122"/>
                <a:cs typeface="Arial" pitchFamily="34" charset="-120"/>
              </a:rPr>
              <a:t>NCRC, standard gradients</a:t>
            </a:r>
            <a:endParaRPr lang="en-US" sz="1400" dirty="0"/>
          </a:p>
        </p:txBody>
      </p:sp>
      <p:sp>
        <p:nvSpPr>
          <p:cNvPr id="11" name="Shape 9"/>
          <p:cNvSpPr/>
          <p:nvPr/>
        </p:nvSpPr>
        <p:spPr>
          <a:xfrm>
            <a:off x="3505200" y="2886711"/>
            <a:ext cx="2667000" cy="355600"/>
          </a:xfrm>
          <a:prstGeom prst="roundRect">
            <a:avLst>
              <a:gd name="adj" fmla="val 10714"/>
            </a:avLst>
          </a:prstGeom>
          <a:solidFill>
            <a:srgbClr val="AE99E9"/>
          </a:solidFill>
          <a:ln/>
        </p:spPr>
      </p:sp>
      <p:sp>
        <p:nvSpPr>
          <p:cNvPr id="12" name="Text 10"/>
          <p:cNvSpPr/>
          <p:nvPr/>
        </p:nvSpPr>
        <p:spPr>
          <a:xfrm>
            <a:off x="6324600" y="2940050"/>
            <a:ext cx="65227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212F"/>
                </a:solidFill>
                <a:latin typeface="Arial" pitchFamily="34" charset="0"/>
                <a:ea typeface="Arial" pitchFamily="34" charset="-122"/>
                <a:cs typeface="Arial" pitchFamily="34" charset="-120"/>
              </a:rPr>
              <a:t>3.14 M</a:t>
            </a:r>
            <a:endParaRPr lang="en-US" sz="1400" dirty="0"/>
          </a:p>
        </p:txBody>
      </p:sp>
      <p:sp>
        <p:nvSpPr>
          <p:cNvPr id="13" name="Text 11"/>
          <p:cNvSpPr/>
          <p:nvPr/>
        </p:nvSpPr>
        <p:spPr>
          <a:xfrm>
            <a:off x="736600" y="3435350"/>
            <a:ext cx="26162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24212F"/>
                </a:solidFill>
                <a:latin typeface="Arial" pitchFamily="34" charset="0"/>
                <a:ea typeface="Arial" pitchFamily="34" charset="-122"/>
                <a:cs typeface="Arial" pitchFamily="34" charset="-120"/>
              </a:rPr>
              <a:t>NCRC, packed gradients</a:t>
            </a:r>
            <a:endParaRPr lang="en-US" sz="1400" dirty="0"/>
          </a:p>
        </p:txBody>
      </p:sp>
      <p:sp>
        <p:nvSpPr>
          <p:cNvPr id="14" name="Shape 12"/>
          <p:cNvSpPr/>
          <p:nvPr/>
        </p:nvSpPr>
        <p:spPr>
          <a:xfrm>
            <a:off x="3505200" y="3382011"/>
            <a:ext cx="1670050" cy="355600"/>
          </a:xfrm>
          <a:prstGeom prst="roundRect">
            <a:avLst>
              <a:gd name="adj" fmla="val 10714"/>
            </a:avLst>
          </a:prstGeom>
          <a:solidFill>
            <a:srgbClr val="7555DE"/>
          </a:solidFill>
          <a:ln/>
        </p:spPr>
      </p:sp>
      <p:sp>
        <p:nvSpPr>
          <p:cNvPr id="15" name="Text 13"/>
          <p:cNvSpPr/>
          <p:nvPr/>
        </p:nvSpPr>
        <p:spPr>
          <a:xfrm>
            <a:off x="5327650" y="3435350"/>
            <a:ext cx="140538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212F"/>
                </a:solidFill>
                <a:latin typeface="Arial" pitchFamily="34" charset="0"/>
                <a:ea typeface="Arial" pitchFamily="34" charset="-122"/>
                <a:cs typeface="Arial" pitchFamily="34" charset="-120"/>
              </a:rPr>
              <a:t>1.97 M (−19%)</a:t>
            </a:r>
            <a:endParaRPr lang="en-US" sz="1400" dirty="0"/>
          </a:p>
        </p:txBody>
      </p:sp>
      <p:sp>
        <p:nvSpPr>
          <p:cNvPr id="16" name="Text 14"/>
          <p:cNvSpPr/>
          <p:nvPr/>
        </p:nvSpPr>
        <p:spPr>
          <a:xfrm>
            <a:off x="304800" y="3930650"/>
            <a:ext cx="30480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24212F"/>
                </a:solidFill>
                <a:latin typeface="Arial" pitchFamily="34" charset="0"/>
                <a:ea typeface="Arial" pitchFamily="34" charset="-122"/>
                <a:cs typeface="Arial" pitchFamily="34" charset="-120"/>
              </a:rPr>
              <a:t>NCRC, packed + cheap training</a:t>
            </a:r>
            <a:endParaRPr lang="en-US" sz="1400" dirty="0"/>
          </a:p>
        </p:txBody>
      </p:sp>
      <p:sp>
        <p:nvSpPr>
          <p:cNvPr id="17" name="Shape 15"/>
          <p:cNvSpPr/>
          <p:nvPr/>
        </p:nvSpPr>
        <p:spPr>
          <a:xfrm>
            <a:off x="3505200" y="3877311"/>
            <a:ext cx="254000" cy="355600"/>
          </a:xfrm>
          <a:prstGeom prst="roundRect">
            <a:avLst>
              <a:gd name="adj" fmla="val 15000"/>
            </a:avLst>
          </a:prstGeom>
          <a:solidFill>
            <a:srgbClr val="7555DE"/>
          </a:solidFill>
          <a:ln/>
        </p:spPr>
      </p:sp>
      <p:sp>
        <p:nvSpPr>
          <p:cNvPr id="18" name="Text 16"/>
          <p:cNvSpPr/>
          <p:nvPr/>
        </p:nvSpPr>
        <p:spPr>
          <a:xfrm>
            <a:off x="3911600" y="3930650"/>
            <a:ext cx="140538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212F"/>
                </a:solidFill>
                <a:latin typeface="Arial" pitchFamily="34" charset="0"/>
                <a:ea typeface="Arial" pitchFamily="34" charset="-122"/>
                <a:cs typeface="Arial" pitchFamily="34" charset="-120"/>
              </a:rPr>
              <a:t>0.30 M (−88%)</a:t>
            </a:r>
            <a:endParaRPr lang="en-US" sz="1400" dirty="0"/>
          </a:p>
        </p:txBody>
      </p:sp>
      <p:sp>
        <p:nvSpPr>
          <p:cNvPr id="19" name="Text 17"/>
          <p:cNvSpPr/>
          <p:nvPr/>
        </p:nvSpPr>
        <p:spPr>
          <a:xfrm>
            <a:off x="8839201" y="2400936"/>
            <a:ext cx="2616200" cy="787400"/>
          </a:xfrm>
          <a:prstGeom prst="rect">
            <a:avLst/>
          </a:prstGeom>
          <a:noFill/>
          <a:ln/>
        </p:spPr>
        <p:txBody>
          <a:bodyPr wrap="none" lIns="0" tIns="0" rIns="0" bIns="0" rtlCol="0" anchor="t">
            <a:normAutofit/>
          </a:bodyPr>
          <a:lstStyle/>
          <a:p>
            <a:pPr algn="l" indent="0" marL="0">
              <a:lnSpc>
                <a:spcPts val="6000"/>
              </a:lnSpc>
              <a:buNone/>
            </a:pPr>
            <a:r>
              <a:rPr lang="en-US" sz="6000" b="1" dirty="0">
                <a:solidFill>
                  <a:srgbClr val="7555DE"/>
                </a:solidFill>
                <a:latin typeface="Arial" pitchFamily="34" charset="0"/>
                <a:ea typeface="Arial" pitchFamily="34" charset="-122"/>
                <a:cs typeface="Arial" pitchFamily="34" charset="-120"/>
              </a:rPr>
              <a:t>−88%</a:t>
            </a:r>
            <a:endParaRPr lang="en-US" sz="6000" dirty="0"/>
          </a:p>
        </p:txBody>
      </p:sp>
      <p:sp>
        <p:nvSpPr>
          <p:cNvPr id="20" name="Text 18"/>
          <p:cNvSpPr/>
          <p:nvPr/>
        </p:nvSpPr>
        <p:spPr>
          <a:xfrm>
            <a:off x="8839201" y="3213736"/>
            <a:ext cx="261620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706A7C"/>
                </a:solidFill>
                <a:latin typeface="Arial" pitchFamily="34" charset="0"/>
                <a:ea typeface="Arial" pitchFamily="34" charset="-122"/>
                <a:cs typeface="Arial" pitchFamily="34" charset="-120"/>
              </a:rPr>
              <a:t>circuit runs vs the original VQC, at AUPRC 0.721</a:t>
            </a:r>
            <a:endParaRPr lang="en-US" sz="1500" dirty="0"/>
          </a:p>
        </p:txBody>
      </p:sp>
      <p:sp>
        <p:nvSpPr>
          <p:cNvPr id="21" name="Text 19"/>
          <p:cNvSpPr/>
          <p:nvPr/>
        </p:nvSpPr>
        <p:spPr>
          <a:xfrm>
            <a:off x="812800" y="4461511"/>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4212F"/>
                </a:solidFill>
                <a:latin typeface="Arial" pitchFamily="34" charset="0"/>
                <a:ea typeface="Arial" pitchFamily="34" charset="-122"/>
                <a:cs typeface="Arial" pitchFamily="34" charset="-120"/>
              </a:rPr>
              <a:t>Linear needs no quantum calls. Same 30-epoch schedule: our circuit costs 19% less than the original once gradients are packed.</a:t>
            </a:r>
            <a:endParaRPr lang="en-US" sz="1400" dirty="0"/>
          </a:p>
        </p:txBody>
      </p:sp>
      <p:sp>
        <p:nvSpPr>
          <p:cNvPr id="22" name="Text 20"/>
          <p:cNvSpPr/>
          <p:nvPr/>
        </p:nvSpPr>
        <p:spPr>
          <a:xfrm>
            <a:off x="812800" y="6238239"/>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Training + validation circuit runs per seed · 1,024 measurements per run · measured on all 5 seeds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555DE"/>
                </a:solidFill>
                <a:latin typeface="Arial" pitchFamily="34" charset="0"/>
                <a:ea typeface="Arial" pitchFamily="34" charset="-122"/>
                <a:cs typeface="Arial" pitchFamily="34" charset="-120"/>
              </a:rPr>
              <a:t>08</a:t>
            </a:r>
            <a:endParaRPr lang="en-US" sz="1500" dirty="0"/>
          </a:p>
        </p:txBody>
      </p:sp>
      <p:sp>
        <p:nvSpPr>
          <p:cNvPr id="3" name="Text 1"/>
          <p:cNvSpPr/>
          <p:nvPr>
            <p:ph type="title"/>
          </p:nvPr>
        </p:nvSpPr>
        <p:spPr>
          <a:xfrm>
            <a:off x="812800" y="1206500"/>
            <a:ext cx="10883393" cy="947420"/>
          </a:xfrm>
          <a:prstGeom prst="rect">
            <a:avLst/>
          </a:prstGeom>
          <a:noFill/>
          <a:ln/>
        </p:spPr>
        <p:txBody>
          <a:bodyPr wrap="square" lIns="0" tIns="0" rIns="0" bIns="0" rtlCol="0" anchor="t">
            <a:normAutofit/>
          </a:bodyPr>
          <a:lstStyle/>
          <a:p>
            <a:pPr algn="l" indent="0" marL="0">
              <a:lnSpc>
                <a:spcPts val="3630"/>
              </a:lnSpc>
              <a:buNone/>
            </a:pPr>
            <a:r>
              <a:rPr lang="en-US" sz="3300" b="1" i="0" dirty="0">
                <a:solidFill>
                  <a:srgbClr val="24212F"/>
                </a:solidFill>
                <a:latin typeface="Arial" pitchFamily="34" charset="0"/>
                <a:ea typeface="Arial" pitchFamily="34" charset="-122"/>
                <a:cs typeface="Arial" pitchFamily="34" charset="-120"/>
              </a:rPr>
              <a:t>Where our VQC beats the linear model, and where it doesn’t</a:t>
            </a:r>
            <a:endParaRPr lang="en-US" sz="3300" dirty="0"/>
          </a:p>
        </p:txBody>
      </p:sp>
      <p:sp>
        <p:nvSpPr>
          <p:cNvPr id="4" name="Text 2"/>
          <p:cNvSpPr/>
          <p:nvPr/>
        </p:nvSpPr>
        <p:spPr>
          <a:xfrm>
            <a:off x="812800" y="2357118"/>
            <a:ext cx="502310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212F"/>
                </a:solidFill>
                <a:latin typeface="Arial" pitchFamily="34" charset="0"/>
                <a:ea typeface="Arial" pitchFamily="34" charset="-122"/>
                <a:cs typeface="Arial" pitchFamily="34" charset="-120"/>
              </a:rPr>
              <a:t>How the linear score is made</a:t>
            </a:r>
            <a:endParaRPr lang="en-US" sz="1700" dirty="0"/>
          </a:p>
        </p:txBody>
      </p:sp>
      <p:sp>
        <p:nvSpPr>
          <p:cNvPr id="5" name="Text 3"/>
          <p:cNvSpPr/>
          <p:nvPr/>
        </p:nvSpPr>
        <p:spPr>
          <a:xfrm>
            <a:off x="812800" y="2705100"/>
            <a:ext cx="502310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06A7C"/>
                </a:solidFill>
                <a:latin typeface="Arial" pitchFamily="34" charset="0"/>
                <a:ea typeface="Arial" pitchFamily="34" charset="-122"/>
                <a:cs typeface="Arial" pitchFamily="34" charset="-120"/>
              </a:rPr>
              <a:t>Learn 4 weights and 1 offset. Multiply the 4 inputs by the weights, add up, convert to a score.</a:t>
            </a:r>
            <a:endParaRPr lang="en-US" sz="1400" dirty="0"/>
          </a:p>
        </p:txBody>
      </p:sp>
      <p:sp>
        <p:nvSpPr>
          <p:cNvPr id="6" name="Text 4"/>
          <p:cNvSpPr/>
          <p:nvPr/>
        </p:nvSpPr>
        <p:spPr>
          <a:xfrm>
            <a:off x="812800" y="3291839"/>
            <a:ext cx="502310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4212F"/>
                </a:solidFill>
                <a:latin typeface="Arial" pitchFamily="34" charset="0"/>
                <a:ea typeface="Arial" pitchFamily="34" charset="-122"/>
                <a:cs typeface="Arial" pitchFamily="34" charset="-120"/>
              </a:rPr>
              <a:t>How our score is made</a:t>
            </a:r>
            <a:endParaRPr lang="en-US" sz="1700" dirty="0"/>
          </a:p>
        </p:txBody>
      </p:sp>
      <p:sp>
        <p:nvSpPr>
          <p:cNvPr id="7" name="Text 5"/>
          <p:cNvSpPr/>
          <p:nvPr/>
        </p:nvSpPr>
        <p:spPr>
          <a:xfrm>
            <a:off x="812800" y="3639818"/>
            <a:ext cx="502310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06A7C"/>
                </a:solidFill>
                <a:latin typeface="Arial" pitchFamily="34" charset="0"/>
                <a:ea typeface="Arial" pitchFamily="34" charset="-122"/>
                <a:cs typeface="Arial" pitchFamily="34" charset="-120"/>
              </a:rPr>
              <a:t>Turn each of 4 qubits by angles that depend on the inputs, 4 times, then average the 4 readings.</a:t>
            </a:r>
            <a:endParaRPr lang="en-US" sz="1400" dirty="0"/>
          </a:p>
        </p:txBody>
      </p:sp>
      <p:sp>
        <p:nvSpPr>
          <p:cNvPr id="8" name="Shape 6"/>
          <p:cNvSpPr/>
          <p:nvPr/>
        </p:nvSpPr>
        <p:spPr>
          <a:xfrm>
            <a:off x="5994400" y="2357118"/>
            <a:ext cx="5384800" cy="2658110"/>
          </a:xfrm>
          <a:prstGeom prst="roundRect">
            <a:avLst>
              <a:gd name="adj" fmla="val 4778"/>
            </a:avLst>
          </a:prstGeom>
          <a:solidFill>
            <a:srgbClr val="FFFFFF"/>
          </a:solidFill>
          <a:ln/>
        </p:spPr>
      </p:sp>
      <p:sp>
        <p:nvSpPr>
          <p:cNvPr id="9" name="Text 7"/>
          <p:cNvSpPr/>
          <p:nvPr/>
        </p:nvSpPr>
        <p:spPr>
          <a:xfrm>
            <a:off x="6248400" y="2611118"/>
            <a:ext cx="502310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4212F"/>
                </a:solidFill>
                <a:latin typeface="Arial" pitchFamily="34" charset="0"/>
                <a:ea typeface="Arial" pitchFamily="34" charset="-122"/>
                <a:cs typeface="Arial" pitchFamily="34" charset="-120"/>
              </a:rPr>
              <a:t>AUPRC with noise switched off</a:t>
            </a:r>
            <a:endParaRPr lang="en-US" sz="1400" dirty="0"/>
          </a:p>
        </p:txBody>
      </p:sp>
      <p:sp>
        <p:nvSpPr>
          <p:cNvPr id="10" name="Text 8"/>
          <p:cNvSpPr/>
          <p:nvPr/>
        </p:nvSpPr>
        <p:spPr>
          <a:xfrm>
            <a:off x="6248400" y="2961639"/>
            <a:ext cx="1574800" cy="772160"/>
          </a:xfrm>
          <a:prstGeom prst="rect">
            <a:avLst/>
          </a:prstGeom>
          <a:noFill/>
          <a:ln/>
        </p:spPr>
        <p:txBody>
          <a:bodyPr wrap="square" lIns="0" tIns="0" rIns="0" bIns="0" rtlCol="0" anchor="t">
            <a:normAutofit/>
          </a:bodyPr>
          <a:lstStyle/>
          <a:p>
            <a:pPr algn="l" indent="0" marL="0">
              <a:lnSpc>
                <a:spcPts val="5880"/>
              </a:lnSpc>
              <a:buNone/>
            </a:pPr>
            <a:r>
              <a:rPr lang="en-US" sz="4200" b="1" dirty="0">
                <a:solidFill>
                  <a:srgbClr val="24212F"/>
                </a:solidFill>
                <a:latin typeface="Arial" pitchFamily="34" charset="0"/>
                <a:ea typeface="Arial" pitchFamily="34" charset="-122"/>
                <a:cs typeface="Arial" pitchFamily="34" charset="-120"/>
              </a:rPr>
              <a:t>0.703</a:t>
            </a:r>
            <a:endParaRPr lang="en-US" sz="4200" dirty="0"/>
          </a:p>
        </p:txBody>
      </p:sp>
      <p:sp>
        <p:nvSpPr>
          <p:cNvPr id="11" name="Text 9"/>
          <p:cNvSpPr/>
          <p:nvPr/>
        </p:nvSpPr>
        <p:spPr>
          <a:xfrm>
            <a:off x="6248400" y="37084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4212F"/>
                </a:solidFill>
                <a:latin typeface="Arial" pitchFamily="34" charset="0"/>
                <a:ea typeface="Arial" pitchFamily="34" charset="-122"/>
                <a:cs typeface="Arial" pitchFamily="34" charset="-120"/>
              </a:rPr>
              <a:t>Linear</a:t>
            </a:r>
            <a:endParaRPr lang="en-US" sz="1300" dirty="0"/>
          </a:p>
        </p:txBody>
      </p:sp>
      <p:sp>
        <p:nvSpPr>
          <p:cNvPr id="12" name="Text 10"/>
          <p:cNvSpPr/>
          <p:nvPr/>
        </p:nvSpPr>
        <p:spPr>
          <a:xfrm>
            <a:off x="7924801" y="2961639"/>
            <a:ext cx="1574800" cy="772160"/>
          </a:xfrm>
          <a:prstGeom prst="rect">
            <a:avLst/>
          </a:prstGeom>
          <a:noFill/>
          <a:ln/>
        </p:spPr>
        <p:txBody>
          <a:bodyPr wrap="square" lIns="0" tIns="0" rIns="0" bIns="0" rtlCol="0" anchor="t">
            <a:normAutofit/>
          </a:bodyPr>
          <a:lstStyle/>
          <a:p>
            <a:pPr algn="l" indent="0" marL="0">
              <a:lnSpc>
                <a:spcPts val="5880"/>
              </a:lnSpc>
              <a:buNone/>
            </a:pPr>
            <a:r>
              <a:rPr lang="en-US" sz="4200" b="1" dirty="0">
                <a:solidFill>
                  <a:srgbClr val="8C869A"/>
                </a:solidFill>
                <a:latin typeface="Arial" pitchFamily="34" charset="0"/>
                <a:ea typeface="Arial" pitchFamily="34" charset="-122"/>
                <a:cs typeface="Arial" pitchFamily="34" charset="-120"/>
              </a:rPr>
              <a:t>0.580</a:t>
            </a:r>
            <a:endParaRPr lang="en-US" sz="4200" dirty="0"/>
          </a:p>
        </p:txBody>
      </p:sp>
      <p:sp>
        <p:nvSpPr>
          <p:cNvPr id="13" name="Text 11"/>
          <p:cNvSpPr/>
          <p:nvPr/>
        </p:nvSpPr>
        <p:spPr>
          <a:xfrm>
            <a:off x="7924801" y="37084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4212F"/>
                </a:solidFill>
                <a:latin typeface="Arial" pitchFamily="34" charset="0"/>
                <a:ea typeface="Arial" pitchFamily="34" charset="-122"/>
                <a:cs typeface="Arial" pitchFamily="34" charset="-120"/>
              </a:rPr>
              <a:t>Original VQC</a:t>
            </a:r>
            <a:endParaRPr lang="en-US" sz="1300" dirty="0"/>
          </a:p>
        </p:txBody>
      </p:sp>
      <p:sp>
        <p:nvSpPr>
          <p:cNvPr id="14" name="Text 12"/>
          <p:cNvSpPr/>
          <p:nvPr/>
        </p:nvSpPr>
        <p:spPr>
          <a:xfrm>
            <a:off x="9601201" y="2961639"/>
            <a:ext cx="1574800" cy="772160"/>
          </a:xfrm>
          <a:prstGeom prst="rect">
            <a:avLst/>
          </a:prstGeom>
          <a:noFill/>
          <a:ln/>
        </p:spPr>
        <p:txBody>
          <a:bodyPr wrap="square" lIns="0" tIns="0" rIns="0" bIns="0" rtlCol="0" anchor="t">
            <a:normAutofit/>
          </a:bodyPr>
          <a:lstStyle/>
          <a:p>
            <a:pPr algn="l" indent="0" marL="0">
              <a:lnSpc>
                <a:spcPts val="5880"/>
              </a:lnSpc>
              <a:buNone/>
            </a:pPr>
            <a:r>
              <a:rPr lang="en-US" sz="4200" b="1" dirty="0">
                <a:solidFill>
                  <a:srgbClr val="7555DE"/>
                </a:solidFill>
                <a:latin typeface="Arial" pitchFamily="34" charset="0"/>
                <a:ea typeface="Arial" pitchFamily="34" charset="-122"/>
                <a:cs typeface="Arial" pitchFamily="34" charset="-120"/>
              </a:rPr>
              <a:t>0.735</a:t>
            </a:r>
            <a:endParaRPr lang="en-US" sz="4200" dirty="0"/>
          </a:p>
        </p:txBody>
      </p:sp>
      <p:sp>
        <p:nvSpPr>
          <p:cNvPr id="15" name="Text 13"/>
          <p:cNvSpPr/>
          <p:nvPr/>
        </p:nvSpPr>
        <p:spPr>
          <a:xfrm>
            <a:off x="9601201" y="37084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4212F"/>
                </a:solidFill>
                <a:latin typeface="Arial" pitchFamily="34" charset="0"/>
                <a:ea typeface="Arial" pitchFamily="34" charset="-122"/>
                <a:cs typeface="Arial" pitchFamily="34" charset="-120"/>
              </a:rPr>
              <a:t>NCRC (ours)</a:t>
            </a:r>
            <a:endParaRPr lang="en-US" sz="1300" dirty="0"/>
          </a:p>
        </p:txBody>
      </p:sp>
      <p:sp>
        <p:nvSpPr>
          <p:cNvPr id="16" name="Text 14"/>
          <p:cNvSpPr/>
          <p:nvPr/>
        </p:nvSpPr>
        <p:spPr>
          <a:xfrm>
            <a:off x="6248400" y="4041139"/>
            <a:ext cx="5023104"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706A7C"/>
                </a:solidFill>
                <a:latin typeface="Arial" pitchFamily="34" charset="0"/>
                <a:ea typeface="Arial" pitchFamily="34" charset="-122"/>
                <a:cs typeface="Arial" pitchFamily="34" charset="-120"/>
              </a:rPr>
              <a:t>Ours ranks frauds better. At one alert threshold linear keeps a higher F1, 0.791 vs 0.763, unless we add the ranking loss (0.796).</a:t>
            </a:r>
            <a:endParaRPr lang="en-US" sz="1400" dirty="0"/>
          </a:p>
        </p:txBody>
      </p:sp>
      <p:sp>
        <p:nvSpPr>
          <p:cNvPr id="17" name="Text 15"/>
          <p:cNvSpPr/>
          <p:nvPr/>
        </p:nvSpPr>
        <p:spPr>
          <a:xfrm>
            <a:off x="812800" y="6238239"/>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Full test set, 5 seeds · linear = LogisticRegression on the same 4 inputs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09</a:t>
            </a:r>
            <a:endParaRPr lang="en-US" sz="1303" dirty="0"/>
          </a:p>
        </p:txBody>
      </p:sp>
      <p:sp>
        <p:nvSpPr>
          <p:cNvPr id="3" name="Text 1"/>
          <p:cNvSpPr/>
          <p:nvPr>
            <p:ph type="title"/>
          </p:nvPr>
        </p:nvSpPr>
        <p:spPr>
          <a:xfrm>
            <a:off x="812800" y="1168828"/>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AUPRC and F1 at both noise levels</a:t>
            </a:r>
            <a:endParaRPr lang="en-US" sz="2836" dirty="0"/>
          </a:p>
        </p:txBody>
      </p:sp>
      <p:pic>
        <p:nvPicPr>
          <p:cNvPr id="4" name="Image 0" descr="Four bar charts: AUPRC and F1 at p = 0.01 and p = 0.05 for Linear, Original VQC, Entangled NCRC and NCRC, mean and standard deviation over five seeds.">    </p:cNvPr>
          <p:cNvPicPr>
            <a:picLocks noChangeAspect="1"/>
          </p:cNvPicPr>
          <p:nvPr/>
        </p:nvPicPr>
        <p:blipFill>
          <a:blip r:embed="rId1"/>
          <a:srcRect l="-38618" r="-38618" t="0" b="0"/>
          <a:stretch/>
        </p:blipFill>
        <p:spPr>
          <a:xfrm>
            <a:off x="812800" y="1793348"/>
            <a:ext cx="10566401" cy="3599180"/>
          </a:xfrm>
          <a:prstGeom prst="rect">
            <a:avLst/>
          </a:prstGeom>
        </p:spPr>
      </p:pic>
      <p:sp>
        <p:nvSpPr>
          <p:cNvPr id="5" name="Text 2"/>
          <p:cNvSpPr/>
          <p:nvPr/>
        </p:nvSpPr>
        <p:spPr>
          <a:xfrm>
            <a:off x="812800" y="5621127"/>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Ours leads on AUPRC at p = 0.05 (0.735); linear and the entangled version keep a slightly higher F1.</a:t>
            </a:r>
            <a:endParaRPr lang="en-US" sz="1313" dirty="0"/>
          </a:p>
        </p:txBody>
      </p:sp>
      <p:sp>
        <p:nvSpPr>
          <p:cNvPr id="6" name="Text 3"/>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Full test set · mean ± std over 5 seeds · higher is better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10</a:t>
            </a:r>
            <a:endParaRPr lang="en-US" sz="1303" dirty="0"/>
          </a:p>
        </p:txBody>
      </p:sp>
      <p:sp>
        <p:nvSpPr>
          <p:cNvPr id="3" name="Text 1"/>
          <p:cNvSpPr/>
          <p:nvPr>
            <p:ph type="title"/>
          </p:nvPr>
        </p:nvSpPr>
        <p:spPr>
          <a:xfrm>
            <a:off x="812800" y="1168822"/>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The gap to linear, and ranking stability</a:t>
            </a:r>
            <a:endParaRPr lang="en-US" sz="2836" dirty="0"/>
          </a:p>
        </p:txBody>
      </p:sp>
      <p:pic>
        <p:nvPicPr>
          <p:cNvPr id="4" name="Image 0" descr="Two bar charts of VQC AUPRC minus linear AUPRC per seed at p = 0.01 and 0.05, and a line chart of Spearman rho from clean to p = 0.05. Ours is +0.032 at both levels with rho 1.">    </p:cNvPr>
          <p:cNvPicPr>
            <a:picLocks noChangeAspect="1"/>
          </p:cNvPicPr>
          <p:nvPr/>
        </p:nvPicPr>
        <p:blipFill>
          <a:blip r:embed="rId1"/>
          <a:srcRect l="0" r="0" t="-10781" b="-10781"/>
          <a:stretch/>
        </p:blipFill>
        <p:spPr>
          <a:xfrm>
            <a:off x="812800" y="1793342"/>
            <a:ext cx="10566401" cy="3599180"/>
          </a:xfrm>
          <a:prstGeom prst="rect">
            <a:avLst/>
          </a:prstGeom>
        </p:spPr>
      </p:pic>
      <p:sp>
        <p:nvSpPr>
          <p:cNvPr id="5" name="Text 2"/>
          <p:cNvSpPr/>
          <p:nvPr/>
        </p:nvSpPr>
        <p:spPr>
          <a:xfrm>
            <a:off x="812800" y="5621120"/>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Ours is ahead of linear by +0.032 AUPRC at both noise levels, and its ranking never changes (ρ = 1).</a:t>
            </a:r>
            <a:endParaRPr lang="en-US" sz="1313" dirty="0"/>
          </a:p>
        </p:txBody>
      </p:sp>
      <p:sp>
        <p:nvSpPr>
          <p:cNvPr id="6" name="Text 3"/>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Paired by seed · full test set · Spearman ρ between noisy and noiseless scores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72521"/>
          </a:xfrm>
          <a:prstGeom prst="rect">
            <a:avLst/>
          </a:prstGeom>
          <a:noFill/>
          <a:ln/>
        </p:spPr>
        <p:txBody>
          <a:bodyPr wrap="square" lIns="0" tIns="0" rIns="0" bIns="0" rtlCol="0" anchor="t">
            <a:normAutofit/>
          </a:bodyPr>
          <a:lstStyle/>
          <a:p>
            <a:pPr algn="l" indent="0" marL="0">
              <a:lnSpc>
                <a:spcPts val="1969"/>
              </a:lnSpc>
              <a:buNone/>
            </a:pPr>
            <a:r>
              <a:rPr lang="en-US" sz="1406" b="1" dirty="0">
                <a:solidFill>
                  <a:srgbClr val="7555DE"/>
                </a:solidFill>
                <a:latin typeface="Arial" pitchFamily="34" charset="0"/>
                <a:ea typeface="Arial" pitchFamily="34" charset="-122"/>
                <a:cs typeface="Arial" pitchFamily="34" charset="-120"/>
              </a:rPr>
              <a:t>11</a:t>
            </a:r>
            <a:endParaRPr lang="en-US" sz="1406" dirty="0"/>
          </a:p>
        </p:txBody>
      </p:sp>
      <p:sp>
        <p:nvSpPr>
          <p:cNvPr id="3" name="Text 1"/>
          <p:cNvSpPr/>
          <p:nvPr>
            <p:ph type="title"/>
          </p:nvPr>
        </p:nvSpPr>
        <p:spPr>
          <a:xfrm>
            <a:off x="812800" y="1186917"/>
            <a:ext cx="10883393" cy="452438"/>
          </a:xfrm>
          <a:prstGeom prst="rect">
            <a:avLst/>
          </a:prstGeom>
          <a:noFill/>
          <a:ln/>
        </p:spPr>
        <p:txBody>
          <a:bodyPr wrap="square" lIns="0" tIns="0" rIns="0" bIns="0" rtlCol="0" anchor="t">
            <a:normAutofit/>
          </a:bodyPr>
          <a:lstStyle/>
          <a:p>
            <a:pPr algn="l" indent="0" marL="0">
              <a:lnSpc>
                <a:spcPts val="3369"/>
              </a:lnSpc>
              <a:buNone/>
            </a:pPr>
            <a:r>
              <a:rPr lang="en-US" sz="3063" b="1" i="0" dirty="0">
                <a:solidFill>
                  <a:srgbClr val="24212F"/>
                </a:solidFill>
                <a:latin typeface="Arial" pitchFamily="34" charset="0"/>
                <a:ea typeface="Arial" pitchFamily="34" charset="-122"/>
                <a:cs typeface="Arial" pitchFamily="34" charset="-120"/>
              </a:rPr>
              <a:t>Simple and curved decision boundaries</a:t>
            </a:r>
            <a:endParaRPr lang="en-US" sz="3063" dirty="0"/>
          </a:p>
        </p:txBody>
      </p:sp>
      <p:pic>
        <p:nvPicPr>
          <p:cNvPr id="4" name="Image 0" descr="Four maps of score minus threshold over two encoded features at p = 0.05, the other two fixed at training medians. Linear: one straight boundary. Original VQC: fragmented islands with tiny score range. Entangled NCRC and NCRC: smooth curved boundaries.">    </p:cNvPr>
          <p:cNvPicPr>
            <a:picLocks noChangeAspect="1"/>
          </p:cNvPicPr>
          <p:nvPr/>
        </p:nvPicPr>
        <p:blipFill>
          <a:blip r:embed="rId1"/>
          <a:srcRect l="0" r="0" t="-15722" b="-15722"/>
          <a:stretch/>
        </p:blipFill>
        <p:spPr>
          <a:xfrm>
            <a:off x="812800" y="1842554"/>
            <a:ext cx="10566401" cy="3294380"/>
          </a:xfrm>
          <a:prstGeom prst="rect">
            <a:avLst/>
          </a:prstGeom>
        </p:spPr>
      </p:pic>
      <p:sp>
        <p:nvSpPr>
          <p:cNvPr id="5" name="Text 2"/>
          <p:cNvSpPr/>
          <p:nvPr/>
        </p:nvSpPr>
        <p:spPr>
          <a:xfrm>
            <a:off x="812800" y="5365533"/>
            <a:ext cx="10883393" cy="501862"/>
          </a:xfrm>
          <a:prstGeom prst="rect">
            <a:avLst/>
          </a:prstGeom>
          <a:noFill/>
          <a:ln/>
        </p:spPr>
        <p:txBody>
          <a:bodyPr wrap="square" lIns="0" tIns="0" rIns="0" bIns="0" rtlCol="0" anchor="t">
            <a:normAutofit/>
          </a:bodyPr>
          <a:lstStyle/>
          <a:p>
            <a:pPr algn="l" indent="0" marL="0">
              <a:lnSpc>
                <a:spcPts val="1886"/>
              </a:lnSpc>
              <a:buNone/>
            </a:pPr>
            <a:r>
              <a:rPr lang="en-US" sz="1397" dirty="0">
                <a:solidFill>
                  <a:srgbClr val="24212F"/>
                </a:solidFill>
                <a:latin typeface="Arial" pitchFamily="34" charset="0"/>
                <a:ea typeface="Arial" pitchFamily="34" charset="-122"/>
                <a:cs typeface="Arial" pitchFamily="34" charset="-120"/>
              </a:rPr>
              <a:t>The linear model draws one straight line. Ours draws smooth curved boundaries, and keeps a wide score range under noise; the original VQC’s map breaks into islands.</a:t>
            </a:r>
            <a:endParaRPr lang="en-US" sz="1397" dirty="0"/>
          </a:p>
        </p:txBody>
      </p:sp>
      <p:sp>
        <p:nvSpPr>
          <p:cNvPr id="6" name="Text 3"/>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Seed 0 · synthetic input combinations for illustration, not test payments · each panel has its own colour scale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Seed 0 · all 56,962 test payments · threshold from validation at the same noise level</a:t>
            </a:r>
            <a:endParaRPr lang="en-US" sz="1200" dirty="0"/>
          </a:p>
        </p:txBody>
      </p:sp>
      <p:sp>
        <p:nvSpPr>
          <p:cNvPr id="3" name="Text 1"/>
          <p:cNvSpPr/>
          <p:nvPr/>
        </p:nvSpPr>
        <p:spPr>
          <a:xfrm>
            <a:off x="812800" y="711200"/>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555DE"/>
                </a:solidFill>
                <a:latin typeface="Arial" pitchFamily="34" charset="0"/>
                <a:ea typeface="Arial" pitchFamily="34" charset="-122"/>
                <a:cs typeface="Arial" pitchFamily="34" charset="-120"/>
              </a:rPr>
              <a:t>12</a:t>
            </a:r>
            <a:endParaRPr lang="en-US" sz="1500" dirty="0"/>
          </a:p>
        </p:txBody>
      </p:sp>
      <p:sp>
        <p:nvSpPr>
          <p:cNvPr id="4" name="Text 2"/>
          <p:cNvSpPr/>
          <p:nvPr>
            <p:ph type="title"/>
          </p:nvPr>
        </p:nvSpPr>
        <p:spPr>
          <a:xfrm>
            <a:off x="812800" y="1168400"/>
            <a:ext cx="10883393" cy="486410"/>
          </a:xfrm>
          <a:prstGeom prst="rect">
            <a:avLst/>
          </a:prstGeom>
          <a:noFill/>
          <a:ln/>
        </p:spPr>
        <p:txBody>
          <a:bodyPr wrap="square" lIns="0" tIns="0" rIns="0" bIns="0" rtlCol="0" anchor="t">
            <a:normAutofit/>
          </a:bodyPr>
          <a:lstStyle/>
          <a:p>
            <a:pPr algn="l" indent="0" marL="0">
              <a:lnSpc>
                <a:spcPts val="3630"/>
              </a:lnSpc>
              <a:buNone/>
            </a:pPr>
            <a:r>
              <a:rPr lang="en-US" sz="3300" b="1" i="0" dirty="0">
                <a:solidFill>
                  <a:srgbClr val="24212F"/>
                </a:solidFill>
                <a:latin typeface="Arial" pitchFamily="34" charset="0"/>
                <a:ea typeface="Arial" pitchFamily="34" charset="-122"/>
                <a:cs typeface="Arial" pitchFamily="34" charset="-120"/>
              </a:rPr>
              <a:t>Actual decisions at both noise levels</a:t>
            </a:r>
            <a:endParaRPr lang="en-US" sz="3300" dirty="0"/>
          </a:p>
        </p:txBody>
      </p:sp>
      <p:sp>
        <p:nvSpPr>
          <p:cNvPr id="5" name="Shape 3"/>
          <p:cNvSpPr/>
          <p:nvPr/>
        </p:nvSpPr>
        <p:spPr>
          <a:xfrm>
            <a:off x="812800" y="1797050"/>
            <a:ext cx="10566401" cy="3378200"/>
          </a:xfrm>
          <a:prstGeom prst="roundRect">
            <a:avLst>
              <a:gd name="adj" fmla="val 3759"/>
            </a:avLst>
          </a:prstGeom>
          <a:solidFill>
            <a:srgbClr val="FFFFFF"/>
          </a:solidFill>
          <a:ln/>
        </p:spPr>
      </p:sp>
      <p:pic>
        <p:nvPicPr>
          <p:cNvPr id="6" name="Image 0" descr="Confusion matrices on the full test set, seed 0, at p = 0.01 and p = 0.05. Linear: 80 caught, 28 false alarms. Original VQC: 65 then 58 caught, 40 then 45 false alarms. Entangled NCRC: 76 then 74 caught, 20 then 17 false alarms. NCRC: 78 caught, 42 false alarms at both.">    </p:cNvPr>
          <p:cNvPicPr>
            <a:picLocks noChangeAspect="1"/>
          </p:cNvPicPr>
          <p:nvPr/>
        </p:nvPicPr>
        <p:blipFill>
          <a:blip r:embed="rId1"/>
          <a:srcRect l="-23228" r="-23228" t="0" b="0"/>
          <a:stretch/>
        </p:blipFill>
        <p:spPr>
          <a:xfrm>
            <a:off x="965200" y="1949450"/>
            <a:ext cx="10261601" cy="3073400"/>
          </a:xfrm>
          <a:prstGeom prst="rect">
            <a:avLst/>
          </a:prstGeom>
        </p:spPr>
      </p:pic>
      <p:sp>
        <p:nvSpPr>
          <p:cNvPr id="7" name="Text 4"/>
          <p:cNvSpPr/>
          <p:nvPr/>
        </p:nvSpPr>
        <p:spPr>
          <a:xfrm>
            <a:off x="812800" y="5397500"/>
            <a:ext cx="1088339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24212F"/>
                </a:solidFill>
                <a:latin typeface="Arial" pitchFamily="34" charset="0"/>
                <a:ea typeface="Arial" pitchFamily="34" charset="-122"/>
                <a:cs typeface="Arial" pitchFamily="34" charset="-120"/>
              </a:rPr>
              <a:t>Caught frauds and correct rejections should be high; missed frauds and false alarms low. Ours gives the same decisions at both noise levels.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60244"/>
          </a:xfrm>
          <a:prstGeom prst="rect">
            <a:avLst/>
          </a:prstGeom>
          <a:noFill/>
          <a:ln/>
        </p:spPr>
        <p:txBody>
          <a:bodyPr wrap="square" lIns="0" tIns="0" rIns="0" bIns="0" rtlCol="0" anchor="t">
            <a:normAutofit/>
          </a:bodyPr>
          <a:lstStyle/>
          <a:p>
            <a:pPr algn="l" indent="0" marL="0">
              <a:lnSpc>
                <a:spcPts val="1870"/>
              </a:lnSpc>
              <a:buNone/>
            </a:pPr>
            <a:r>
              <a:rPr lang="en-US" sz="1336" b="1" dirty="0">
                <a:solidFill>
                  <a:srgbClr val="7555DE"/>
                </a:solidFill>
                <a:latin typeface="Arial" pitchFamily="34" charset="0"/>
                <a:ea typeface="Arial" pitchFamily="34" charset="-122"/>
                <a:cs typeface="Arial" pitchFamily="34" charset="-120"/>
              </a:rPr>
              <a:t>13</a:t>
            </a:r>
            <a:endParaRPr lang="en-US" sz="1336" dirty="0"/>
          </a:p>
        </p:txBody>
      </p:sp>
      <p:sp>
        <p:nvSpPr>
          <p:cNvPr id="3" name="Text 1"/>
          <p:cNvSpPr/>
          <p:nvPr>
            <p:ph type="title"/>
          </p:nvPr>
        </p:nvSpPr>
        <p:spPr>
          <a:xfrm>
            <a:off x="812800" y="1174645"/>
            <a:ext cx="10883393" cy="431271"/>
          </a:xfrm>
          <a:prstGeom prst="rect">
            <a:avLst/>
          </a:prstGeom>
          <a:noFill/>
          <a:ln/>
        </p:spPr>
        <p:txBody>
          <a:bodyPr wrap="square" lIns="0" tIns="0" rIns="0" bIns="0" rtlCol="0" anchor="t">
            <a:normAutofit/>
          </a:bodyPr>
          <a:lstStyle/>
          <a:p>
            <a:pPr algn="l" indent="0" marL="0">
              <a:lnSpc>
                <a:spcPts val="3222"/>
              </a:lnSpc>
              <a:buNone/>
            </a:pPr>
            <a:r>
              <a:rPr lang="en-US" sz="2929" b="1" i="0" dirty="0">
                <a:solidFill>
                  <a:srgbClr val="24212F"/>
                </a:solidFill>
                <a:latin typeface="Arial" pitchFamily="34" charset="0"/>
                <a:ea typeface="Arial" pitchFamily="34" charset="-122"/>
                <a:cs typeface="Arial" pitchFamily="34" charset="-120"/>
              </a:rPr>
              <a:t>All frauds relative to the alert threshold</a:t>
            </a:r>
            <a:endParaRPr lang="en-US" sz="2929" dirty="0"/>
          </a:p>
        </p:txBody>
      </p:sp>
      <p:pic>
        <p:nvPicPr>
          <p:cNvPr id="4" name="Image 0" descr="Eight panels, four models by two noise levels, seed 0: every test fraud and 500 legitimate payments as score minus threshold. Caught counts: Linear 80, Original 65 then 58, Entangled 76 then 74, NCRC 78 at both.">    </p:cNvPr>
          <p:cNvPicPr>
            <a:picLocks noChangeAspect="1"/>
          </p:cNvPicPr>
          <p:nvPr/>
        </p:nvPicPr>
        <p:blipFill>
          <a:blip r:embed="rId1"/>
          <a:srcRect l="-11737" r="-11737" t="0" b="0"/>
          <a:stretch/>
        </p:blipFill>
        <p:spPr>
          <a:xfrm>
            <a:off x="812800" y="1809111"/>
            <a:ext cx="10566401" cy="3577908"/>
          </a:xfrm>
          <a:prstGeom prst="rect">
            <a:avLst/>
          </a:prstGeom>
        </p:spPr>
      </p:pic>
      <p:sp>
        <p:nvSpPr>
          <p:cNvPr id="5" name="Text 2"/>
          <p:cNvSpPr/>
          <p:nvPr/>
        </p:nvSpPr>
        <p:spPr>
          <a:xfrm>
            <a:off x="812800" y="5615620"/>
            <a:ext cx="10883393" cy="251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24212F"/>
                </a:solidFill>
                <a:latin typeface="Arial" pitchFamily="34" charset="0"/>
                <a:ea typeface="Arial" pitchFamily="34" charset="-122"/>
                <a:cs typeface="Arial" pitchFamily="34" charset="-120"/>
              </a:rPr>
              <a:t>Green stars were caught; purple stars were missed. Every test fraud is shown, for every model and both noise levels.</a:t>
            </a:r>
            <a:endParaRPr lang="en-US" sz="1350" dirty="0"/>
          </a:p>
        </p:txBody>
      </p:sp>
      <p:sp>
        <p:nvSpPr>
          <p:cNvPr id="6" name="Text 3"/>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Seed 0 · all 98 frauds + 500 legitimate payments for display · metrics use the full test set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14</a:t>
            </a:r>
            <a:endParaRPr lang="en-US" sz="1303" dirty="0"/>
          </a:p>
        </p:txBody>
      </p:sp>
      <p:sp>
        <p:nvSpPr>
          <p:cNvPr id="3" name="Text 1"/>
          <p:cNvSpPr/>
          <p:nvPr>
            <p:ph type="title"/>
          </p:nvPr>
        </p:nvSpPr>
        <p:spPr>
          <a:xfrm>
            <a:off x="812800" y="1168822"/>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Every variant we ran</a:t>
            </a:r>
            <a:endParaRPr lang="en-US" sz="2836" dirty="0"/>
          </a:p>
        </p:txBody>
      </p:sp>
      <p:pic>
        <p:nvPicPr>
          <p:cNvPr id="4" name="Image 0" descr="Horizontal bars of test AUPRC at p = 0 and p = 0.05 for twelve configurations, from linear and the original VQC to NCRC variants with 1 or 4 qubits, 2 to 6 layers, pruning, cheap training and the ranking loss.">    </p:cNvPr>
          <p:cNvPicPr>
            <a:picLocks noChangeAspect="1"/>
          </p:cNvPicPr>
          <p:nvPr/>
        </p:nvPicPr>
        <p:blipFill>
          <a:blip r:embed="rId1"/>
          <a:srcRect l="-13555" r="-13555" t="0" b="0"/>
          <a:stretch/>
        </p:blipFill>
        <p:spPr>
          <a:xfrm>
            <a:off x="812800" y="1793342"/>
            <a:ext cx="10566401" cy="3599180"/>
          </a:xfrm>
          <a:prstGeom prst="rect">
            <a:avLst/>
          </a:prstGeom>
        </p:spPr>
      </p:pic>
      <p:sp>
        <p:nvSpPr>
          <p:cNvPr id="5" name="Text 2"/>
          <p:cNvSpPr/>
          <p:nvPr/>
        </p:nvSpPr>
        <p:spPr>
          <a:xfrm>
            <a:off x="812800" y="5621127"/>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More layers did not help; four qubits beat one; entanglement helps without noise but loses under it.</a:t>
            </a:r>
            <a:endParaRPr lang="en-US" sz="1313" dirty="0"/>
          </a:p>
        </p:txBody>
      </p:sp>
      <p:sp>
        <p:nvSpPr>
          <p:cNvPr id="6" name="Text 3"/>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Five seeds · configuration chosen on validation (0.724) · test shown for completeness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15</a:t>
            </a:r>
            <a:endParaRPr lang="en-US" sz="1303" dirty="0"/>
          </a:p>
        </p:txBody>
      </p:sp>
      <p:sp>
        <p:nvSpPr>
          <p:cNvPr id="3" name="Text 1"/>
          <p:cNvSpPr/>
          <p:nvPr>
            <p:ph type="title"/>
          </p:nvPr>
        </p:nvSpPr>
        <p:spPr>
          <a:xfrm>
            <a:off x="812800" y="1168822"/>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Cheaper training and packed gradients</a:t>
            </a:r>
            <a:endParaRPr lang="en-US" sz="2836" dirty="0"/>
          </a:p>
        </p:txBody>
      </p:sp>
      <p:pic>
        <p:nvPicPr>
          <p:cNvPr id="4" name="Image 0" descr="Three bar charts: test AUPRC for full versus cheap schedule (0.735 vs 0.721), executions per training run (1.97 M vs 0.30 M), and gradient executions per training example (baseline 41, NCRC standard 81, packed 15, 1 qubit 9).">    </p:cNvPr>
          <p:cNvPicPr>
            <a:picLocks noChangeAspect="1"/>
          </p:cNvPicPr>
          <p:nvPr/>
        </p:nvPicPr>
        <p:blipFill>
          <a:blip r:embed="rId1"/>
          <a:srcRect l="0" r="0" t="-11854" b="-11854"/>
          <a:stretch/>
        </p:blipFill>
        <p:spPr>
          <a:xfrm>
            <a:off x="812800" y="1793342"/>
            <a:ext cx="10566401" cy="3599180"/>
          </a:xfrm>
          <a:prstGeom prst="rect">
            <a:avLst/>
          </a:prstGeom>
        </p:spPr>
      </p:pic>
      <p:sp>
        <p:nvSpPr>
          <p:cNvPr id="5" name="Text 2"/>
          <p:cNvSpPr/>
          <p:nvPr/>
        </p:nvSpPr>
        <p:spPr>
          <a:xfrm>
            <a:off x="812800" y="5621127"/>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Packed gradients give identical results for 15 runs per payment; cheap training costs 0.014 AUPRC.</a:t>
            </a:r>
            <a:endParaRPr lang="en-US" sz="1313" dirty="0"/>
          </a:p>
        </p:txBody>
      </p:sp>
      <p:sp>
        <p:nvSpPr>
          <p:cNvPr id="6" name="Text 3"/>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Packed results checked against standard gradients to 10⁻¹⁶ and re-trained on all 5 seeds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16</a:t>
            </a:r>
            <a:endParaRPr lang="en-US" sz="1303" dirty="0"/>
          </a:p>
        </p:txBody>
      </p:sp>
      <p:sp>
        <p:nvSpPr>
          <p:cNvPr id="3" name="Text 1"/>
          <p:cNvSpPr/>
          <p:nvPr>
            <p:ph type="title"/>
          </p:nvPr>
        </p:nvSpPr>
        <p:spPr>
          <a:xfrm>
            <a:off x="812800" y="1168828"/>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A real readout: 1,024 measurements per score</a:t>
            </a:r>
            <a:endParaRPr lang="en-US" sz="2836" dirty="0"/>
          </a:p>
        </p:txBody>
      </p:sp>
      <p:pic>
        <p:nvPicPr>
          <p:cNvPr id="4" name="Image 0" descr="Line charts of test AUPRC exact versus with 1,024 shots for NCRC and the original VQC at clean, p = 0.01 and p = 0.05, and Spearman rho with shots. NCRC 0.735 to 0.733; original 0.405 to 0.013.">    </p:cNvPr>
          <p:cNvPicPr>
            <a:picLocks noChangeAspect="1"/>
          </p:cNvPicPr>
          <p:nvPr/>
        </p:nvPicPr>
        <p:blipFill>
          <a:blip r:embed="rId1"/>
          <a:srcRect l="0" r="0" t="-9672" b="-9672"/>
          <a:stretch/>
        </p:blipFill>
        <p:spPr>
          <a:xfrm>
            <a:off x="812800" y="1793348"/>
            <a:ext cx="10566401" cy="3599180"/>
          </a:xfrm>
          <a:prstGeom prst="rect">
            <a:avLst/>
          </a:prstGeom>
        </p:spPr>
      </p:pic>
      <p:sp>
        <p:nvSpPr>
          <p:cNvPr id="5" name="Text 2"/>
          <p:cNvSpPr/>
          <p:nvPr/>
        </p:nvSpPr>
        <p:spPr>
          <a:xfrm>
            <a:off x="812800" y="5621120"/>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With shots, ours loses 0.002 AUPRC; the original VQC collapses to 0.013, no better than random.</a:t>
            </a:r>
            <a:endParaRPr lang="en-US" sz="1313" dirty="0"/>
          </a:p>
        </p:txBody>
      </p:sp>
      <p:sp>
        <p:nvSpPr>
          <p:cNvPr id="6" name="Text 3"/>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Full test set · 5 seeds × 5 independent shot draws · our 4 qubits measured separately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17</a:t>
            </a:r>
            <a:endParaRPr lang="en-US" sz="1303" dirty="0"/>
          </a:p>
        </p:txBody>
      </p:sp>
      <p:sp>
        <p:nvSpPr>
          <p:cNvPr id="3" name="Text 1"/>
          <p:cNvSpPr/>
          <p:nvPr>
            <p:ph type="title"/>
          </p:nvPr>
        </p:nvSpPr>
        <p:spPr>
          <a:xfrm>
            <a:off x="812800" y="1168834"/>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Circuit counts and cost</a:t>
            </a:r>
            <a:endParaRPr lang="en-US" sz="2836" dirty="0"/>
          </a:p>
        </p:txBody>
      </p:sp>
      <p:pic>
        <p:nvPicPr>
          <p:cNvPr id="4" name="Image 0" descr="Three bar charts: noise locations (126, 34, 16), executions per training example (41, 97, 15 packed) and training plus validation executions per seed (linear 0, original 2.43 M, entangled 3.43 M, ours 1.97 M).">    </p:cNvPr>
          <p:cNvPicPr>
            <a:picLocks noChangeAspect="1"/>
          </p:cNvPicPr>
          <p:nvPr/>
        </p:nvPicPr>
        <p:blipFill>
          <a:blip r:embed="rId1"/>
          <a:srcRect l="0" r="0" t="-15054" b="-15054"/>
          <a:stretch/>
        </p:blipFill>
        <p:spPr>
          <a:xfrm>
            <a:off x="812800" y="1793354"/>
            <a:ext cx="10566401" cy="3599180"/>
          </a:xfrm>
          <a:prstGeom prst="rect">
            <a:avLst/>
          </a:prstGeom>
        </p:spPr>
      </p:pic>
      <p:sp>
        <p:nvSpPr>
          <p:cNvPr id="5" name="Text 2"/>
          <p:cNvSpPr/>
          <p:nvPr/>
        </p:nvSpPr>
        <p:spPr>
          <a:xfrm>
            <a:off x="812800" y="5621127"/>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Fewer noise locations and packed gradients: ours needs 1.97 M runs per seed against 2.43 M.</a:t>
            </a:r>
            <a:endParaRPr lang="en-US" sz="1313" dirty="0"/>
          </a:p>
        </p:txBody>
      </p:sp>
      <p:sp>
        <p:nvSpPr>
          <p:cNvPr id="6" name="Text 3"/>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Measured ledgers from results/raw · 1,024 shots per run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18</a:t>
            </a:r>
            <a:endParaRPr lang="en-US" sz="1303" dirty="0"/>
          </a:p>
        </p:txBody>
      </p:sp>
      <p:sp>
        <p:nvSpPr>
          <p:cNvPr id="3" name="Text 1"/>
          <p:cNvSpPr/>
          <p:nvPr>
            <p:ph type="title"/>
          </p:nvPr>
        </p:nvSpPr>
        <p:spPr>
          <a:xfrm>
            <a:off x="812800" y="1168834"/>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Every value in between: dense noise sweeps</a:t>
            </a:r>
            <a:endParaRPr lang="en-US" sz="2836" dirty="0"/>
          </a:p>
        </p:txBody>
      </p:sp>
      <p:pic>
        <p:nvPicPr>
          <p:cNvPr id="4" name="Image 0" descr="Two line charts of test AUPRC versus gate noise. Left, 21 levels from 0 to 0.05 on the full test set: ours flat at 0.735, original falling from 0.580 to 0.405. Right, 26 levels from 0 to 0.5 with 1,024 shots on 500 fraud-rich rows: original fails near 0.08, entangled near 0.25, ours holds 0.94 at 0.3 and falls to 0.39 at 0.5.">    </p:cNvPr>
          <p:cNvPicPr>
            <a:picLocks noChangeAspect="1"/>
          </p:cNvPicPr>
          <p:nvPr/>
        </p:nvPicPr>
        <p:blipFill>
          <a:blip r:embed="rId1"/>
          <a:srcRect l="-450" r="-450" t="0" b="0"/>
          <a:stretch/>
        </p:blipFill>
        <p:spPr>
          <a:xfrm>
            <a:off x="812800" y="1793354"/>
            <a:ext cx="10566401" cy="3599180"/>
          </a:xfrm>
          <a:prstGeom prst="rect">
            <a:avLst/>
          </a:prstGeom>
        </p:spPr>
      </p:pic>
      <p:sp>
        <p:nvSpPr>
          <p:cNvPr id="5" name="Text 2"/>
          <p:cNvSpPr/>
          <p:nvPr/>
        </p:nvSpPr>
        <p:spPr>
          <a:xfrm>
            <a:off x="812800" y="5621127"/>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Every dot is a measured level. Under heavy noise everyone bends, ours last.</a:t>
            </a:r>
            <a:endParaRPr lang="en-US" sz="1313" dirty="0"/>
          </a:p>
        </p:txBody>
      </p:sp>
      <p:sp>
        <p:nvSpPr>
          <p:cNvPr id="6" name="Text 3"/>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Left: official protocol, exact · right: stress test, 20% fraud set (random = 0.20)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19</a:t>
            </a:r>
            <a:endParaRPr lang="en-US" sz="1303" dirty="0"/>
          </a:p>
        </p:txBody>
      </p:sp>
      <p:sp>
        <p:nvSpPr>
          <p:cNvPr id="3" name="Text 1"/>
          <p:cNvSpPr/>
          <p:nvPr>
            <p:ph type="title"/>
          </p:nvPr>
        </p:nvSpPr>
        <p:spPr>
          <a:xfrm>
            <a:off x="812800" y="1168822"/>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Not just on average: the worst run of every noise</a:t>
            </a:r>
            <a:endParaRPr lang="en-US" sz="2836" dirty="0"/>
          </a:p>
        </p:txBody>
      </p:sp>
      <p:pic>
        <p:nvPicPr>
          <p:cNvPr id="4" name="Image 0" descr="Grouped bars of the worst single run at mean noise 0.2 for six noise types. Ours stays between 0.93 and 0.95; the original falls to 0.11 to 0.17 except bit flip; entangled down to 0.69 under uneven mixed noise.">    </p:cNvPr>
          <p:cNvPicPr>
            <a:picLocks noChangeAspect="1"/>
          </p:cNvPicPr>
          <p:nvPr/>
        </p:nvPicPr>
        <p:blipFill>
          <a:blip r:embed="rId1"/>
          <a:srcRect l="0" r="0" t="-4574" b="-4574"/>
          <a:stretch/>
        </p:blipFill>
        <p:spPr>
          <a:xfrm>
            <a:off x="812800" y="1793342"/>
            <a:ext cx="10566401" cy="3599180"/>
          </a:xfrm>
          <a:prstGeom prst="rect">
            <a:avLst/>
          </a:prstGeom>
        </p:spPr>
      </p:pic>
      <p:sp>
        <p:nvSpPr>
          <p:cNvPr id="5" name="Text 2"/>
          <p:cNvSpPr/>
          <p:nvPr/>
        </p:nvSpPr>
        <p:spPr>
          <a:xfrm>
            <a:off x="812800" y="5621114"/>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Our worst run anywhere is 0.93. The original’s worst runs fall below random guessing.</a:t>
            </a:r>
            <a:endParaRPr lang="en-US" sz="1313" dirty="0"/>
          </a:p>
        </p:txBody>
      </p:sp>
      <p:sp>
        <p:nvSpPr>
          <p:cNvPr id="6" name="Text 3"/>
          <p:cNvSpPr/>
          <p:nvPr/>
        </p:nvSpPr>
        <p:spPr>
          <a:xfrm>
            <a:off x="812800" y="623823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Exact simulation · 500 fraud-rich rows · uneven noise: every gate its own random strength (and type), 25 runs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711200"/>
            <a:ext cx="10883393" cy="254423"/>
          </a:xfrm>
          <a:prstGeom prst="rect">
            <a:avLst/>
          </a:prstGeom>
          <a:noFill/>
          <a:ln/>
        </p:spPr>
        <p:txBody>
          <a:bodyPr wrap="square" lIns="0" tIns="0" rIns="0" bIns="0" rtlCol="0" anchor="t">
            <a:normAutofit/>
          </a:bodyPr>
          <a:lstStyle/>
          <a:p>
            <a:pPr algn="l" indent="0" marL="0">
              <a:lnSpc>
                <a:spcPts val="1824"/>
              </a:lnSpc>
              <a:buNone/>
            </a:pPr>
            <a:r>
              <a:rPr lang="en-US" sz="1303" b="1" dirty="0">
                <a:solidFill>
                  <a:srgbClr val="7555DE"/>
                </a:solidFill>
                <a:latin typeface="Arial" pitchFamily="34" charset="0"/>
                <a:ea typeface="Arial" pitchFamily="34" charset="-122"/>
                <a:cs typeface="Arial" pitchFamily="34" charset="-120"/>
              </a:rPr>
              <a:t>20</a:t>
            </a:r>
            <a:endParaRPr lang="en-US" sz="1303" dirty="0"/>
          </a:p>
        </p:txBody>
      </p:sp>
      <p:sp>
        <p:nvSpPr>
          <p:cNvPr id="3" name="Text 1"/>
          <p:cNvSpPr/>
          <p:nvPr>
            <p:ph type="title"/>
          </p:nvPr>
        </p:nvSpPr>
        <p:spPr>
          <a:xfrm>
            <a:off x="812800" y="1168822"/>
            <a:ext cx="10883393" cy="421323"/>
          </a:xfrm>
          <a:prstGeom prst="rect">
            <a:avLst/>
          </a:prstGeom>
          <a:noFill/>
          <a:ln/>
        </p:spPr>
        <p:txBody>
          <a:bodyPr wrap="square" lIns="0" tIns="0" rIns="0" bIns="0" rtlCol="0" anchor="t">
            <a:normAutofit/>
          </a:bodyPr>
          <a:lstStyle/>
          <a:p>
            <a:pPr algn="l" indent="0" marL="0">
              <a:lnSpc>
                <a:spcPts val="3120"/>
              </a:lnSpc>
              <a:buNone/>
            </a:pPr>
            <a:r>
              <a:rPr lang="en-US" sz="2836" b="1" i="0" dirty="0">
                <a:solidFill>
                  <a:srgbClr val="24212F"/>
                </a:solidFill>
                <a:latin typeface="Arial" pitchFamily="34" charset="0"/>
                <a:ea typeface="Arial" pitchFamily="34" charset="-122"/>
                <a:cs typeface="Arial" pitchFamily="34" charset="-120"/>
              </a:rPr>
              <a:t>Every payment, before and after noise</a:t>
            </a:r>
            <a:endParaRPr lang="en-US" sz="2836" dirty="0"/>
          </a:p>
        </p:txBody>
      </p:sp>
      <p:pic>
        <p:nvPicPr>
          <p:cNvPr id="4" name="Image 0" descr="Two scatter plots of score without noise against score at p = 0.05 for 500 test payments. Original VQC: a scattered cloud, rank agreement 0.882. NCRC: one straight line, rank agreement 1.000.">    </p:cNvPr>
          <p:cNvPicPr>
            <a:picLocks noChangeAspect="1"/>
          </p:cNvPicPr>
          <p:nvPr/>
        </p:nvPicPr>
        <p:blipFill>
          <a:blip r:embed="rId1"/>
          <a:srcRect l="-8219" r="-8219" t="0" b="0"/>
          <a:stretch/>
        </p:blipFill>
        <p:spPr>
          <a:xfrm>
            <a:off x="812800" y="1793342"/>
            <a:ext cx="10566401" cy="3599180"/>
          </a:xfrm>
          <a:prstGeom prst="rect">
            <a:avLst/>
          </a:prstGeom>
        </p:spPr>
      </p:pic>
      <p:sp>
        <p:nvSpPr>
          <p:cNvPr id="5" name="Text 2"/>
          <p:cNvSpPr/>
          <p:nvPr/>
        </p:nvSpPr>
        <p:spPr>
          <a:xfrm>
            <a:off x="812800" y="5621127"/>
            <a:ext cx="10883393" cy="246274"/>
          </a:xfrm>
          <a:prstGeom prst="rect">
            <a:avLst/>
          </a:prstGeom>
          <a:noFill/>
          <a:ln/>
        </p:spPr>
        <p:txBody>
          <a:bodyPr wrap="square" lIns="0" tIns="0" rIns="0" bIns="0" rtlCol="0" anchor="t">
            <a:normAutofit/>
          </a:bodyPr>
          <a:lstStyle/>
          <a:p>
            <a:pPr algn="l" indent="0" marL="0">
              <a:lnSpc>
                <a:spcPts val="1772"/>
              </a:lnSpc>
              <a:buNone/>
            </a:pPr>
            <a:r>
              <a:rPr lang="en-US" sz="1313" dirty="0">
                <a:solidFill>
                  <a:srgbClr val="24212F"/>
                </a:solidFill>
                <a:latin typeface="Arial" pitchFamily="34" charset="0"/>
                <a:ea typeface="Arial" pitchFamily="34" charset="-122"/>
                <a:cs typeface="Arial" pitchFamily="34" charset="-120"/>
              </a:rPr>
              <a:t>On a straight line the order is kept, so the same frauds stay on top.</a:t>
            </a:r>
            <a:endParaRPr lang="en-US" sz="1313" dirty="0"/>
          </a:p>
        </p:txBody>
      </p:sp>
      <p:sp>
        <p:nvSpPr>
          <p:cNvPr id="6" name="Text 3"/>
          <p:cNvSpPr/>
          <p:nvPr/>
        </p:nvSpPr>
        <p:spPr>
          <a:xfrm>
            <a:off x="812800" y="623823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06A7C"/>
                </a:solidFill>
                <a:latin typeface="Arial" pitchFamily="34" charset="0"/>
                <a:ea typeface="Arial" pitchFamily="34" charset="-122"/>
                <a:cs typeface="Arial" pitchFamily="34" charset="-120"/>
              </a:rPr>
              <a:t>Seed 0 · 500 fraud-rich test rows · exact simulation</a:t>
            </a:r>
            <a:endParaRPr lang="en-US" sz="1200" dirty="0"/>
          </a:p>
        </p:txBody>
      </p:sp>
    </p:spTree>
  </p:cSld>
  <p:clrMapOvr>
    <a:masterClrMapping/>
  </p:clrMapOvr>
</p:sld>
</file>

<file path=ppt/theme/theme1.xml><?xml version="1.0" encoding="utf-8"?>
<a:theme xmlns:a="http://schemas.openxmlformats.org/drawingml/2006/main" name="Fraud detection under noise (Canva version)">
  <a:themeElements>
    <a:clrScheme name="Fraud detection under noise (Canva version)">
      <a:dk1>
        <a:srgbClr val="24212F"/>
      </a:dk1>
      <a:lt1>
        <a:srgbClr val="F7F6F2"/>
      </a:lt1>
      <a:dk2>
        <a:srgbClr val="595660"/>
      </a:dk2>
      <a:lt2>
        <a:srgbClr val="E2E1DF"/>
      </a:lt2>
      <a:accent1>
        <a:srgbClr val="7555DE"/>
      </a:accent1>
      <a:accent2>
        <a:srgbClr val="AE99E9"/>
      </a:accent2>
      <a:accent3>
        <a:srgbClr val="D3EE8D"/>
      </a:accent3>
      <a:accent4>
        <a:srgbClr val="706A7C"/>
      </a:accent4>
      <a:accent5>
        <a:srgbClr val="8C869A"/>
      </a:accent5>
      <a:accent6>
        <a:srgbClr val="A7A2B3"/>
      </a:accent6>
      <a:hlink>
        <a:srgbClr val="0563C1"/>
      </a:hlink>
      <a:folHlink>
        <a:srgbClr val="954F72"/>
      </a:folHlink>
    </a:clrScheme>
    <a:fontScheme name="Fraud detection under noise (Canva vers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under noise (Canva version)</dc:title>
  <dc:subject/>
  <dc:creator/>
  <cp:lastModifiedBy/>
  <cp:revision>1</cp:revision>
  <dcterms:created xsi:type="dcterms:W3CDTF">2026-10-24T21:40:33Z</dcterms:created>
  <dcterms:modified xsi:type="dcterms:W3CDTF">2026-10-24T21:40:33Z</dcterms:modified>
</cp:coreProperties>
</file>